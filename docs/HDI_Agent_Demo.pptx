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C4FF"/>
                </a:solidFill>
              </a:rPr>
              <a:t>PROOF OF CONCEPT  ·  SAP HANA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HDI-Agent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AI-Powered SAP HANA Deployment Infrastructure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DD"/>
                </a:solidFill>
              </a:rPr>
              <a:t>Deploy any HDI artifact in seconds — just describe it in plain 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1737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🤖 GPT-4o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977639"/>
            <a:ext cx="1737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🗄️ SAP HANA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977639"/>
            <a:ext cx="1737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⚙️ HDI Infrastructure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977639"/>
            <a:ext cx="1737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⚡ 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1737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💬 React Chat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5560" y="3977639"/>
            <a:ext cx="1737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🐍 Python / hdbcli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June 2026  ·  HDI Automation Team  ·  SAP HANA Cloud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BBFF"/>
                </a:solidFill>
              </a:rPr>
              <a:t>SLIDE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Problem &amp;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Why HDI development is hard — and how HDI-Agent changes that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0" cy="493776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3030"/>
                </a:solidFill>
              </a:rPr>
              <a:t>❌  Without HDI-Agent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Must know 30+ artifact types and exact file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Write HDI DDL by hand — one syntax error fails the entire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1693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Manually maintain .hdiconfig plugin registry for every new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3814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Call DI API in exact order: WRITE → MAKE → GRANT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93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Manually grant privileges before DBX data preview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Debug silent failures via internal M_MESSAGES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0176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Special quirks for CVs, Libraries, Virtual Tables — undocumented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486400"/>
            <a:ext cx="5120640" cy="38404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⏱  5 – 15 minutes per artifact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34440"/>
            <a:ext cx="5852160" cy="4937760"/>
          </a:xfrm>
          <a:prstGeom prst="rect">
            <a:avLst/>
          </a:prstGeom>
          <a:solidFill>
            <a:srgbClr val="F0FFF4"/>
          </a:solidFill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749"/>
                </a:solidFill>
              </a:rPr>
              <a:t>✅  With HDI-Agent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3311"/>
                </a:solidFill>
              </a:rPr>
              <a:t>•  Plain English → GPT-4o generates correct HDI syntax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9572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3311"/>
                </a:solidFill>
              </a:rPr>
              <a:t>•  Agent reads artifact docs &amp; produces valid DDL — no syntax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1693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3311"/>
                </a:solidFill>
              </a:rPr>
              <a:t>•  .hdiconfig managed automatically — zero manual plugin registration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3814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3311"/>
                </a:solidFill>
              </a:rPr>
              <a:t>•  Full WRITE → MAKE → GRANT sequence handled with error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593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3311"/>
                </a:solidFill>
              </a:rPr>
              <a:t>•  Privileges granted automatically — DBX data preview works 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48055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3311"/>
                </a:solidFill>
              </a:rPr>
              <a:t>•  M_MESSAGES queried and logged automatically for diagnostics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00176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3311"/>
                </a:solidFill>
              </a:rPr>
              <a:t>•  Built-in special handling for CVs, Libraries, Virtual Tables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486400"/>
            <a:ext cx="5486400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4864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⚡  Under 30 seconds per artifact  —  90%+ time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BBFF"/>
                </a:solidFill>
              </a:rPr>
              <a:t>SLIDE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From natural language to deployed HANA artifacts —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474720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① USER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234440"/>
            <a:ext cx="3474720" cy="2926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2344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② AGENT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38744" y="1234440"/>
            <a:ext cx="3474720" cy="29260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12344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③ HANA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3108960" cy="68580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</a:rPr>
              <a:t>💬  React Chat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Vite · Port 5173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0545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</a:rPr>
              <a:t>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06624"/>
            <a:ext cx="3108960" cy="68580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79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1D95"/>
                </a:solidFill>
              </a:rPr>
              <a:t>🔌  FastAPI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723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Python · Port 8000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691640"/>
            <a:ext cx="3108960" cy="68580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31843"/>
                </a:solidFill>
              </a:rPr>
              <a:t>🤖  GPT-4o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0574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Amazon Bedrock / OpenAI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43230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542032"/>
            <a:ext cx="3108960" cy="6858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6151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2400E"/>
                </a:solidFill>
              </a:rPr>
              <a:t>🧠  Agent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90779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agent/agent.py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2826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392424"/>
            <a:ext cx="3108960" cy="68580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4655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2D12"/>
                </a:solidFill>
              </a:rPr>
              <a:t>🛠️  Tool Registry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7581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15+ tools · agent/tools.py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13308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242816"/>
            <a:ext cx="3108960" cy="685800"/>
          </a:xfrm>
          <a:prstGeom prst="rect">
            <a:avLst/>
          </a:prstGeom>
          <a:solidFill>
            <a:srgbClr val="FDF4F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1C87"/>
                </a:solidFill>
              </a:rPr>
              <a:t>📚  Artifact 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6085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30+ .md files · docs/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691640"/>
            <a:ext cx="3108960" cy="68580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4E3B"/>
                </a:solidFill>
              </a:rPr>
              <a:t>🗄️  HANA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0574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hdbcli · hana_client.py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50545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</a:rPr>
              <a:t>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706624"/>
            <a:ext cx="3108960" cy="6858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779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532D"/>
                </a:solidFill>
              </a:rPr>
              <a:t>⚙️  SAP HANA Cloud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0723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</a:rPr>
              <a:t>HDI Container  ·  WRITE → MAKE → GRANT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760720"/>
            <a:ext cx="3566160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7972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</a:rPr>
              <a:t>① User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080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Plain English → React UI → FastAPI → Agent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9392" y="5760720"/>
            <a:ext cx="356616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2" y="57972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2400E"/>
                </a:solidFill>
              </a:rPr>
              <a:t>② Agent Processing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6080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GPT-4o + Docs → correct HDI DDL → Tool call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38744" y="5760720"/>
            <a:ext cx="3566160" cy="685800"/>
          </a:xfrm>
          <a:prstGeom prst="rect">
            <a:avLst/>
          </a:prstGeom>
          <a:solidFill>
            <a:srgbClr val="F0FFF4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38744" y="57972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5F46"/>
                </a:solidFill>
              </a:rPr>
              <a:t>③ Deploy to HANA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38744" y="6080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DI.WRITE → DI.MAKE → Schema Grant → DBX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BBFF"/>
                </a:solidFill>
              </a:rPr>
              <a:t>SLIDE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Features &amp; Supported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What HDI-Agent can build and deploy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4572000" cy="182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3087"/>
                </a:solidFill>
              </a:rPr>
              <a:t>CORE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66160" cy="1280160"/>
          </a:xfrm>
          <a:prstGeom prst="rect">
            <a:avLst/>
          </a:prstGeom>
          <a:solidFill>
            <a:srgbClr val="F7FAFF"/>
          </a:solidFill>
          <a:ln w="19050">
            <a:solidFill>
              <a:srgbClr val="C5D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Natural Language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842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Describe any artifact in plain English — GPT-4o generates valid HDI syntax 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508760"/>
            <a:ext cx="3566160" cy="1280160"/>
          </a:xfrm>
          <a:prstGeom prst="rect">
            <a:avLst/>
          </a:prstGeom>
          <a:solidFill>
            <a:srgbClr val="F7FAFF"/>
          </a:solidFill>
          <a:ln w="19050">
            <a:solidFill>
              <a:srgbClr val="C5D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18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Auto Plugin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9842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.hdiconfig written &amp; maintained automatically — zero manual plugin registration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508760"/>
            <a:ext cx="3566160" cy="1280160"/>
          </a:xfrm>
          <a:prstGeom prst="rect">
            <a:avLst/>
          </a:prstGeom>
          <a:solidFill>
            <a:srgbClr val="F7FAFF"/>
          </a:solidFill>
          <a:ln w="19050">
            <a:solidFill>
              <a:srgbClr val="C5D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618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Auto Privilege Grants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9842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Schema privileges granted after every deploy — DBX data preview works immediately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71800"/>
            <a:ext cx="3566160" cy="1280160"/>
          </a:xfrm>
          <a:prstGeom prst="rect">
            <a:avLst/>
          </a:prstGeom>
          <a:solidFill>
            <a:srgbClr val="F7FAFF"/>
          </a:solidFill>
          <a:ln w="19050">
            <a:solidFill>
              <a:srgbClr val="C5D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081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Silent Failure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44728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Queries M_MESSAGES after every MAKE — catches rc=0 failures for CVs &amp; Libraries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2971800"/>
            <a:ext cx="3566160" cy="1280160"/>
          </a:xfrm>
          <a:prstGeom prst="rect">
            <a:avLst/>
          </a:prstGeom>
          <a:solidFill>
            <a:srgbClr val="F7FAFF"/>
          </a:solidFill>
          <a:ln w="19050">
            <a:solidFill>
              <a:srgbClr val="C5D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081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Full 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44728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Every WRITE, MAKE, GRANT logged with timestamps and return codes in session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971800"/>
            <a:ext cx="3566160" cy="1280160"/>
          </a:xfrm>
          <a:prstGeom prst="rect">
            <a:avLst/>
          </a:prstGeom>
          <a:solidFill>
            <a:srgbClr val="F7FAFF"/>
          </a:solidFill>
          <a:ln w="19050">
            <a:solidFill>
              <a:srgbClr val="C5D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🗑️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081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</a:rPr>
              <a:t>Drop &amp; Rebuild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44728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Drop single artifacts or entire container — agent handles undeploy MAKE automatically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133087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3087"/>
                </a:solidFill>
              </a:rPr>
              <a:t>SUPPORTED ARTIFACT TYPES  (30+)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11457432" cy="182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462272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4622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38528" y="4462272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8528" y="44622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.hdbmigrationtable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57016" y="4462272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57016" y="44622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75504" y="4462272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44622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.hdbcalculationview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3992" y="4462272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93992" y="44622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.hdbprocedure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462272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4622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.hdbfunction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30968" y="4462272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30968" y="44622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.hdbtrigger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882896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88289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.hdblibrary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882896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38528" y="488289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.hdbvirtualtable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57016" y="4882896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57016" y="488289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.hdbcollection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75504" y="4882896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75504" y="488289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.hdbrole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3992" y="4882896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93992" y="488289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.hdbstructuredprivilege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4882896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488289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.hdbsynonym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30968" y="4882896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30968" y="488289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.hdbindex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303520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530352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.hdbsequence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38528" y="5303520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38528" y="530352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.hdbgrants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57016" y="5303520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57016" y="530352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.hdbtabletype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75504" y="5303520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75504" y="530352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.hdbstatistics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93992" y="5303520"/>
            <a:ext cx="1508760" cy="310896"/>
          </a:xfrm>
          <a:prstGeom prst="rect">
            <a:avLst/>
          </a:prstGeom>
          <a:solidFill>
            <a:srgbClr val="F0F4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93992" y="530352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30A3"/>
                </a:solidFill>
              </a:rPr>
              <a:t>+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BBFF"/>
                </a:solidFill>
              </a:rPr>
              <a:t>SLIDE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Deploying a full retail data model — end-to-end in under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3087"/>
                </a:solidFill>
              </a:rPr>
              <a:t>DEMO 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6858000" cy="182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685800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 says to HDI-Agent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727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Agent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148840"/>
            <a:ext cx="27432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</a:rPr>
              <a:t>"Create PRODUCT_MASTER table with ID, NAME, CATEGORY, PRICE"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148840"/>
            <a:ext cx="10972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40AF"/>
                </a:solidFill>
              </a:rPr>
              <a:t>.hdbtable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60320"/>
            <a:ext cx="6858000" cy="548640"/>
          </a:xfrm>
          <a:prstGeom prst="rect">
            <a:avLst/>
          </a:prstGeom>
          <a:solidFill>
            <a:srgbClr val="F7FA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97480"/>
            <a:ext cx="27432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51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</a:rPr>
              <a:t>"Create SALES_ORDER_ITEM table linked to products and stores"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697480"/>
            <a:ext cx="10972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40AF"/>
                </a:solidFill>
              </a:rPr>
              <a:t>.hdbtable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108960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246120"/>
            <a:ext cx="27432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</a:rPr>
              <a:t>"Create view SALES_SUMMARY joining orders and products"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246120"/>
            <a:ext cx="10972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40AF"/>
                </a:solidFill>
              </a:rPr>
              <a:t>.hdbview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57600"/>
            <a:ext cx="6858000" cy="548640"/>
          </a:xfrm>
          <a:prstGeom prst="rect">
            <a:avLst/>
          </a:prstGeom>
          <a:solidFill>
            <a:srgbClr val="F7FA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3794760"/>
            <a:ext cx="27432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79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749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</a:rPr>
              <a:t>"Create calculation view CV_SALES_ANALYSIS for analytics"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794760"/>
            <a:ext cx="10972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2400E"/>
                </a:solidFill>
              </a:rPr>
              <a:t>.hdbcalculationview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06240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4343400"/>
            <a:ext cx="27432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343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97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</a:rPr>
              <a:t>"Create stored procedure GET_TOP_PRODUCTS"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343400"/>
            <a:ext cx="109728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343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C1D95"/>
                </a:solidFill>
              </a:rPr>
              <a:t>.hdbprocedure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754880"/>
            <a:ext cx="6858000" cy="548640"/>
          </a:xfrm>
          <a:prstGeom prst="rect">
            <a:avLst/>
          </a:prstGeom>
          <a:solidFill>
            <a:srgbClr val="F7FA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4048" y="4892040"/>
            <a:ext cx="27432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46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</a:rPr>
              <a:t>"Insert 10 sample rows into PRODUCT_MASTER"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892040"/>
            <a:ext cx="1097280" cy="274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6749"/>
                </a:solidFill>
              </a:rPr>
              <a:t>execute_sql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303520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4048" y="5440680"/>
            <a:ext cx="274320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440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394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22"/>
                </a:solidFill>
              </a:rPr>
              <a:t>"Show all products with price &gt; 500"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440680"/>
            <a:ext cx="1097280" cy="274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6749"/>
                </a:solidFill>
              </a:rPr>
              <a:t>SELECT query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118872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3087"/>
                </a:solidFill>
              </a:rPr>
              <a:t>VERIFY IN DBX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1170432"/>
            <a:ext cx="4434840" cy="182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0" y="1463040"/>
            <a:ext cx="4434840" cy="1463040"/>
          </a:xfrm>
          <a:prstGeom prst="rect">
            <a:avLst/>
          </a:prstGeom>
          <a:solidFill>
            <a:srgbClr val="EEF4FF"/>
          </a:solidFill>
          <a:ln w="381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15087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</a:rPr>
              <a:t>SAP HANA Database Explorer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169164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77"/>
                </a:solidFill>
              </a:rPr>
              <a:t>Catalog → Schemas → AGENTHDI_CONTAINER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187452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205740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📊  Tables visible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224028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👁️   Views queryable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242316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📐  Column Views accessible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260604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⚙️   Procedures callable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303580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3087"/>
                </a:solidFill>
              </a:rPr>
              <a:t>SESSION LOG AUDIT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3017520"/>
            <a:ext cx="4434840" cy="182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06640" y="3310128"/>
            <a:ext cx="443484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16368" y="3346704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8A8"/>
                </a:solidFill>
              </a:rPr>
              <a:t>WRITE | src/PRODUCT_MASTER.hdbtable | rc=0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16368" y="3557016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8A8"/>
                </a:solidFill>
              </a:rPr>
              <a:t>MAKE  | deploy=[hdbtable] | rc=0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16368" y="3767328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8A8"/>
                </a:solidFill>
              </a:rPr>
              <a:t>GRANT | HDI_USER | SELECT 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6368" y="3977640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8A8"/>
                </a:solidFill>
              </a:rPr>
              <a:t>WRITE | src/CV_SALES.hdbcalculationview | rc=0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16368" y="4187952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8A8"/>
                </a:solidFill>
              </a:rPr>
              <a:t>MAKE  | +.hdiconfig+src/.hdiconfig | rc=0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16368" y="4398264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8A8"/>
                </a:solidFill>
              </a:rPr>
              <a:t>ARTIFACT_TREE | 5 objects 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4828032"/>
            <a:ext cx="4434840" cy="502920"/>
          </a:xfrm>
          <a:prstGeom prst="rect">
            <a:avLst/>
          </a:prstGeom>
          <a:solidFill>
            <a:srgbClr val="F0FFF4"/>
          </a:solidFill>
          <a:ln w="381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16368" y="4846320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</a:rPr>
              <a:t>✅  Full retail model deployed &amp; visible in DBX
    — all via chat, zero SQL console.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