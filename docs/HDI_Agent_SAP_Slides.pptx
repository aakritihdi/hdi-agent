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6"/>
    <p:restoredTop sz="94691"/>
  </p:normalViewPr>
  <p:slideViewPr>
    <p:cSldViewPr snapToGrid="0" snapToObjects="1">
      <p:cViewPr varScale="1">
        <p:scale>
          <a:sx n="213" d="100"/>
          <a:sy n="213" d="100"/>
        </p:scale>
        <p:origin x="107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9436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943600" y="0"/>
            <a:ext cx="6245352" cy="68580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43600" y="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35793" y="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27986" y="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620179" y="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512372" y="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04565" y="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296758" y="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0" y="13716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35793" y="137160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27986" y="13716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620179" y="137160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512372" y="13716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404565" y="137160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296758" y="137160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0" y="274320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35793" y="274320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727986" y="274320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20179" y="27432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512372" y="274320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404565" y="274320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1296758" y="27432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43600" y="411480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35793" y="41148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727986" y="411480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620179" y="411480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512372" y="411480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404565" y="41148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1296758" y="411480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943600" y="54864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35793" y="548640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727986" y="54864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620179" y="548640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512372" y="5486400"/>
            <a:ext cx="892693" cy="13721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404565" y="5486400"/>
            <a:ext cx="892693" cy="13721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1296758" y="5486400"/>
            <a:ext cx="892693" cy="13721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669280" y="0"/>
            <a:ext cx="731520" cy="68580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492240" y="0"/>
            <a:ext cx="731520" cy="68580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315200" y="0"/>
            <a:ext cx="731520" cy="68580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138160" y="0"/>
            <a:ext cx="731520" cy="68580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961120" y="0"/>
            <a:ext cx="731520" cy="68580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784080" y="0"/>
            <a:ext cx="731520" cy="68580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0607040" y="0"/>
            <a:ext cx="731520" cy="68580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1430000" y="0"/>
            <a:ext cx="731520" cy="68580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943600" y="0"/>
            <a:ext cx="6245352" cy="128016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943600" y="1371600"/>
            <a:ext cx="6245352" cy="9144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943600" y="2377440"/>
            <a:ext cx="6245352" cy="109728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943600" y="3566160"/>
            <a:ext cx="6245352" cy="82296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5943600" y="4480560"/>
            <a:ext cx="6245352" cy="100584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943600" y="5577840"/>
            <a:ext cx="6245352" cy="128016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943600" y="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835793" y="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727986" y="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620179" y="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512372" y="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0404565" y="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1296758" y="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943600" y="13716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835793" y="137160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7727986" y="13716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8620179" y="137160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9512372" y="137160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10404565" y="13716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11296758" y="137160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943600" y="274320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6835793" y="274320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7727986" y="274320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8620179" y="27432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9512372" y="274320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0404565" y="274320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1296758" y="27432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943600" y="411480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6835793" y="41148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7727986" y="411480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8620179" y="411480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9512372" y="41148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404565" y="411480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1296758" y="411480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5943600" y="54864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6835793" y="548640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7727986" y="54864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8620179" y="548640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9512372" y="5486400"/>
            <a:ext cx="892193" cy="13716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04565" y="5486400"/>
            <a:ext cx="892193" cy="13716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11296758" y="5486400"/>
            <a:ext cx="892193" cy="13716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5943600" y="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6835793" y="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727986" y="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8620179" y="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9512372" y="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10404565" y="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1296758" y="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5943600" y="13716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6835793" y="137160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7727986" y="137160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8620179" y="13716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9512372" y="137160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10404565" y="137160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11296758" y="137160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943600" y="274320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6835793" y="27432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7727986" y="274320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8620179" y="274320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9512372" y="27432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10404565" y="274320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11296758" y="27432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5943600" y="411480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6835793" y="411480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7727986" y="41148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8620179" y="411480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9512372" y="411480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10404565" y="41148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11296758" y="411480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5943600" y="548640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6835793" y="54864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7727986" y="548640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8620179" y="5486400"/>
            <a:ext cx="446096" cy="685800"/>
          </a:xfrm>
          <a:prstGeom prst="rect">
            <a:avLst/>
          </a:prstGeom>
          <a:solidFill>
            <a:srgbClr val="002B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9512372" y="54864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10404565" y="5486400"/>
            <a:ext cx="446096" cy="6858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11296758" y="5486400"/>
            <a:ext cx="446096" cy="685800"/>
          </a:xfrm>
          <a:prstGeom prst="rect">
            <a:avLst/>
          </a:prstGeom>
          <a:solidFill>
            <a:srgbClr val="B8D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320040" y="256032"/>
            <a:ext cx="804672" cy="377190"/>
          </a:xfrm>
          <a:prstGeom prst="rect">
            <a:avLst/>
          </a:prstGeom>
          <a:solidFill>
            <a:srgbClr val="007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320040" y="256032"/>
            <a:ext cx="804672" cy="377190"/>
          </a:xfrm>
          <a:prstGeom prst="rect">
            <a:avLst/>
          </a:prstGeom>
          <a:noFill/>
        </p:spPr>
        <p:txBody>
          <a:bodyPr wrap="square">
            <a:spAutoFit/>
          </a:bodyPr>
          <a:lstStyle/>
          <a:p>
            <a:pPr algn="ctr"/>
            <a:r>
              <a:rPr sz="1800" b="1" i="0">
                <a:solidFill>
                  <a:srgbClr val="FFFFFF"/>
                </a:solidFill>
              </a:rPr>
              <a:t>SAP</a:t>
            </a:r>
          </a:p>
        </p:txBody>
      </p:sp>
      <p:sp>
        <p:nvSpPr>
          <p:cNvPr id="125" name="TextBox 124"/>
          <p:cNvSpPr txBox="1"/>
          <p:nvPr/>
        </p:nvSpPr>
        <p:spPr>
          <a:xfrm>
            <a:off x="320040" y="2377440"/>
            <a:ext cx="5303520" cy="1828800"/>
          </a:xfrm>
          <a:prstGeom prst="rect">
            <a:avLst/>
          </a:prstGeom>
          <a:noFill/>
        </p:spPr>
        <p:txBody>
          <a:bodyPr wrap="square">
            <a:spAutoFit/>
          </a:bodyPr>
          <a:lstStyle/>
          <a:p>
            <a:pPr algn="l"/>
            <a:r>
              <a:rPr sz="3200" b="1">
                <a:solidFill>
                  <a:srgbClr val="1F1F1F"/>
                </a:solidFill>
              </a:rPr>
              <a:t>HANA Deployment
Infrastructure Agent
(HDI-Agent)</a:t>
            </a:r>
          </a:p>
        </p:txBody>
      </p:sp>
      <p:sp>
        <p:nvSpPr>
          <p:cNvPr id="126" name="TextBox 125"/>
          <p:cNvSpPr txBox="1"/>
          <p:nvPr/>
        </p:nvSpPr>
        <p:spPr>
          <a:xfrm>
            <a:off x="320040" y="4343400"/>
            <a:ext cx="5303520" cy="320040"/>
          </a:xfrm>
          <a:prstGeom prst="rect">
            <a:avLst/>
          </a:prstGeom>
          <a:noFill/>
        </p:spPr>
        <p:txBody>
          <a:bodyPr wrap="square">
            <a:spAutoFit/>
          </a:bodyPr>
          <a:lstStyle/>
          <a:p>
            <a:pPr algn="l"/>
            <a:r>
              <a:rPr sz="1300" b="0" i="0">
                <a:solidFill>
                  <a:srgbClr val="444444"/>
                </a:solidFill>
              </a:rPr>
              <a:t>SAP, SAP</a:t>
            </a:r>
          </a:p>
        </p:txBody>
      </p:sp>
      <p:sp>
        <p:nvSpPr>
          <p:cNvPr id="127" name="TextBox 126"/>
          <p:cNvSpPr txBox="1"/>
          <p:nvPr/>
        </p:nvSpPr>
        <p:spPr>
          <a:xfrm>
            <a:off x="320040" y="5029200"/>
            <a:ext cx="2743200" cy="274320"/>
          </a:xfrm>
          <a:prstGeom prst="rect">
            <a:avLst/>
          </a:prstGeom>
          <a:noFill/>
        </p:spPr>
        <p:txBody>
          <a:bodyPr wrap="square">
            <a:spAutoFit/>
          </a:bodyPr>
          <a:lstStyle/>
          <a:p>
            <a:pPr algn="l"/>
            <a:r>
              <a:rPr sz="1000" b="0" i="0">
                <a:solidFill>
                  <a:srgbClr val="444444"/>
                </a:solidFill>
              </a:rPr>
              <a:t>INTERNAL</a:t>
            </a:r>
          </a:p>
        </p:txBody>
      </p:sp>
      <p:sp>
        <p:nvSpPr>
          <p:cNvPr id="128" name="Rectangle 127"/>
          <p:cNvSpPr/>
          <p:nvPr/>
        </p:nvSpPr>
        <p:spPr>
          <a:xfrm>
            <a:off x="320040" y="5989320"/>
            <a:ext cx="1463040" cy="594360"/>
          </a:xfrm>
          <a:prstGeom prst="rect">
            <a:avLst/>
          </a:prstGeom>
          <a:noFill/>
          <a:ln w="12700">
            <a:solidFill>
              <a:srgbClr val="1F1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320040" y="5989320"/>
            <a:ext cx="1463040" cy="594360"/>
          </a:xfrm>
          <a:prstGeom prst="rect">
            <a:avLst/>
          </a:prstGeom>
          <a:noFill/>
        </p:spPr>
        <p:txBody>
          <a:bodyPr wrap="square">
            <a:spAutoFit/>
          </a:bodyPr>
          <a:lstStyle/>
          <a:p>
            <a:pPr algn="ctr"/>
            <a:r>
              <a:rPr sz="800" b="0" i="0">
                <a:solidFill>
                  <a:srgbClr val="1F1F1F"/>
                </a:solidFill>
              </a:rPr>
              <a:t>Add partner
logo and alt text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182880"/>
            <a:ext cx="804672" cy="377190"/>
          </a:xfrm>
          <a:prstGeom prst="rect">
            <a:avLst/>
          </a:prstGeom>
          <a:solidFill>
            <a:srgbClr val="007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182880"/>
            <a:ext cx="804672" cy="377190"/>
          </a:xfrm>
          <a:prstGeom prst="rect">
            <a:avLst/>
          </a:prstGeom>
          <a:noFill/>
        </p:spPr>
        <p:txBody>
          <a:bodyPr wrap="square">
            <a:spAutoFit/>
          </a:bodyPr>
          <a:lstStyle/>
          <a:p>
            <a:pPr algn="ctr"/>
            <a:r>
              <a:rPr sz="1800" b="1" i="0">
                <a:solidFill>
                  <a:srgbClr val="FFFFFF"/>
                </a:solidFill>
              </a:rPr>
              <a:t>SAP</a:t>
            </a:r>
          </a:p>
        </p:txBody>
      </p:sp>
      <p:sp>
        <p:nvSpPr>
          <p:cNvPr id="6" name="TextBox 5"/>
          <p:cNvSpPr txBox="1"/>
          <p:nvPr/>
        </p:nvSpPr>
        <p:spPr>
          <a:xfrm>
            <a:off x="10515600" y="73152"/>
            <a:ext cx="1554480" cy="228600"/>
          </a:xfrm>
          <a:prstGeom prst="rect">
            <a:avLst/>
          </a:prstGeom>
          <a:noFill/>
        </p:spPr>
        <p:txBody>
          <a:bodyPr wrap="square">
            <a:spAutoFit/>
          </a:bodyPr>
          <a:lstStyle/>
          <a:p>
            <a:pPr algn="r"/>
            <a:r>
              <a:rPr sz="800" b="0" i="0">
                <a:solidFill>
                  <a:srgbClr val="AACCFF"/>
                </a:solidFill>
              </a:rPr>
              <a:t>SLIDE 2 OF 4</a:t>
            </a:r>
          </a:p>
        </p:txBody>
      </p:sp>
      <p:sp>
        <p:nvSpPr>
          <p:cNvPr id="7" name="TextBox 6"/>
          <p:cNvSpPr txBox="1"/>
          <p:nvPr/>
        </p:nvSpPr>
        <p:spPr>
          <a:xfrm>
            <a:off x="320040" y="274320"/>
            <a:ext cx="10972800" cy="502920"/>
          </a:xfrm>
          <a:prstGeom prst="rect">
            <a:avLst/>
          </a:prstGeom>
          <a:noFill/>
        </p:spPr>
        <p:txBody>
          <a:bodyPr wrap="square">
            <a:spAutoFit/>
          </a:bodyPr>
          <a:lstStyle/>
          <a:p>
            <a:pPr algn="l"/>
            <a:r>
              <a:rPr sz="2400" b="1" i="0">
                <a:solidFill>
                  <a:srgbClr val="FFFFFF"/>
                </a:solidFill>
              </a:rPr>
              <a:t>The Challenge with HDI in BAS</a:t>
            </a:r>
          </a:p>
        </p:txBody>
      </p:sp>
      <p:sp>
        <p:nvSpPr>
          <p:cNvPr id="8" name="TextBox 7"/>
          <p:cNvSpPr txBox="1"/>
          <p:nvPr/>
        </p:nvSpPr>
        <p:spPr>
          <a:xfrm>
            <a:off x="320040" y="749808"/>
            <a:ext cx="10972800" cy="256032"/>
          </a:xfrm>
          <a:prstGeom prst="rect">
            <a:avLst/>
          </a:prstGeom>
          <a:noFill/>
        </p:spPr>
        <p:txBody>
          <a:bodyPr wrap="square">
            <a:spAutoFit/>
          </a:bodyPr>
          <a:lstStyle/>
          <a:p>
            <a:pPr algn="l"/>
            <a:r>
              <a:rPr sz="1100" b="0" i="0">
                <a:solidFill>
                  <a:srgbClr val="B8D0FF"/>
                </a:solidFill>
              </a:rPr>
              <a:t>Why HDI exploratory testing is complex and error-prone</a:t>
            </a:r>
          </a:p>
        </p:txBody>
      </p:sp>
      <p:sp>
        <p:nvSpPr>
          <p:cNvPr id="9" name="Rectangle 8"/>
          <p:cNvSpPr/>
          <p:nvPr/>
        </p:nvSpPr>
        <p:spPr>
          <a:xfrm>
            <a:off x="0" y="1005840"/>
            <a:ext cx="12188952" cy="36576"/>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2893" y="1152144"/>
            <a:ext cx="5486400" cy="256032"/>
          </a:xfrm>
          <a:prstGeom prst="rect">
            <a:avLst/>
          </a:prstGeom>
          <a:noFill/>
        </p:spPr>
        <p:txBody>
          <a:bodyPr wrap="square">
            <a:spAutoFit/>
          </a:bodyPr>
          <a:lstStyle/>
          <a:p>
            <a:pPr algn="l"/>
            <a:r>
              <a:rPr sz="800" b="1" i="0" dirty="0">
                <a:solidFill>
                  <a:srgbClr val="003087"/>
                </a:solidFill>
              </a:rPr>
              <a:t>PROBLEM STATEMENT</a:t>
            </a:r>
          </a:p>
        </p:txBody>
      </p:sp>
      <p:sp>
        <p:nvSpPr>
          <p:cNvPr id="11" name="Rectangle 10"/>
          <p:cNvSpPr/>
          <p:nvPr/>
        </p:nvSpPr>
        <p:spPr>
          <a:xfrm>
            <a:off x="457200" y="1399032"/>
            <a:ext cx="11274552" cy="2743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545336"/>
            <a:ext cx="292608" cy="29260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1545336"/>
            <a:ext cx="292608" cy="292608"/>
          </a:xfrm>
          <a:prstGeom prst="rect">
            <a:avLst/>
          </a:prstGeom>
          <a:noFill/>
        </p:spPr>
        <p:txBody>
          <a:bodyPr wrap="square">
            <a:spAutoFit/>
          </a:bodyPr>
          <a:lstStyle/>
          <a:p>
            <a:pPr algn="ctr"/>
            <a:r>
              <a:rPr sz="900" b="1" i="0">
                <a:solidFill>
                  <a:srgbClr val="FFFFFF"/>
                </a:solidFill>
              </a:rPr>
              <a:t>1</a:t>
            </a:r>
          </a:p>
        </p:txBody>
      </p:sp>
      <p:sp>
        <p:nvSpPr>
          <p:cNvPr id="14" name="TextBox 13"/>
          <p:cNvSpPr txBox="1"/>
          <p:nvPr/>
        </p:nvSpPr>
        <p:spPr>
          <a:xfrm>
            <a:off x="868680" y="1508760"/>
            <a:ext cx="10881360" cy="320040"/>
          </a:xfrm>
          <a:prstGeom prst="rect">
            <a:avLst/>
          </a:prstGeom>
          <a:noFill/>
        </p:spPr>
        <p:txBody>
          <a:bodyPr wrap="square">
            <a:spAutoFit/>
          </a:bodyPr>
          <a:lstStyle/>
          <a:p>
            <a:pPr algn="l"/>
            <a:r>
              <a:rPr sz="1100" b="1" i="0">
                <a:solidFill>
                  <a:srgbClr val="1F1F1F"/>
                </a:solidFill>
              </a:rPr>
              <a:t>Inconsistent HDI syntax across artifact types</a:t>
            </a:r>
          </a:p>
        </p:txBody>
      </p:sp>
      <p:sp>
        <p:nvSpPr>
          <p:cNvPr id="15" name="TextBox 14"/>
          <p:cNvSpPr txBox="1"/>
          <p:nvPr/>
        </p:nvSpPr>
        <p:spPr>
          <a:xfrm>
            <a:off x="868680" y="1810512"/>
            <a:ext cx="10881360" cy="621792"/>
          </a:xfrm>
          <a:prstGeom prst="rect">
            <a:avLst/>
          </a:prstGeom>
          <a:noFill/>
        </p:spPr>
        <p:txBody>
          <a:bodyPr wrap="square">
            <a:spAutoFit/>
          </a:bodyPr>
          <a:lstStyle/>
          <a:p>
            <a:pPr algn="l"/>
            <a:r>
              <a:rPr sz="950" b="0" i="0">
                <a:solidFill>
                  <a:srgbClr val="444444"/>
                </a:solidFill>
              </a:rPr>
              <a:t>HDI exploratory testing in BAS is inconsistent — syntax rules, file extensions, and configurations differ significantly across the 30+ artifact types. This knowledge is not standardised or widely distributed across development teams.</a:t>
            </a:r>
          </a:p>
        </p:txBody>
      </p:sp>
      <p:sp>
        <p:nvSpPr>
          <p:cNvPr id="16" name="Rectangle 15"/>
          <p:cNvSpPr/>
          <p:nvPr/>
        </p:nvSpPr>
        <p:spPr>
          <a:xfrm>
            <a:off x="457200" y="2532888"/>
            <a:ext cx="292608" cy="29260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532888"/>
            <a:ext cx="292608" cy="292608"/>
          </a:xfrm>
          <a:prstGeom prst="rect">
            <a:avLst/>
          </a:prstGeom>
          <a:noFill/>
        </p:spPr>
        <p:txBody>
          <a:bodyPr wrap="square">
            <a:spAutoFit/>
          </a:bodyPr>
          <a:lstStyle/>
          <a:p>
            <a:pPr algn="ctr"/>
            <a:r>
              <a:rPr sz="900" b="1" i="0">
                <a:solidFill>
                  <a:srgbClr val="FFFFFF"/>
                </a:solidFill>
              </a:rPr>
              <a:t>2</a:t>
            </a:r>
          </a:p>
        </p:txBody>
      </p:sp>
      <p:sp>
        <p:nvSpPr>
          <p:cNvPr id="18" name="TextBox 17"/>
          <p:cNvSpPr txBox="1"/>
          <p:nvPr/>
        </p:nvSpPr>
        <p:spPr>
          <a:xfrm>
            <a:off x="868680" y="2496312"/>
            <a:ext cx="10881360" cy="320040"/>
          </a:xfrm>
          <a:prstGeom prst="rect">
            <a:avLst/>
          </a:prstGeom>
          <a:noFill/>
        </p:spPr>
        <p:txBody>
          <a:bodyPr wrap="square">
            <a:spAutoFit/>
          </a:bodyPr>
          <a:lstStyle/>
          <a:p>
            <a:pPr algn="l"/>
            <a:r>
              <a:rPr sz="1100" b="1" i="0">
                <a:solidFill>
                  <a:srgbClr val="1F1F1F"/>
                </a:solidFill>
              </a:rPr>
              <a:t>Complex plugin and .hdiconfig management</a:t>
            </a:r>
          </a:p>
        </p:txBody>
      </p:sp>
      <p:sp>
        <p:nvSpPr>
          <p:cNvPr id="19" name="TextBox 18"/>
          <p:cNvSpPr txBox="1"/>
          <p:nvPr/>
        </p:nvSpPr>
        <p:spPr>
          <a:xfrm>
            <a:off x="868680" y="2798064"/>
            <a:ext cx="10881360" cy="621792"/>
          </a:xfrm>
          <a:prstGeom prst="rect">
            <a:avLst/>
          </a:prstGeom>
          <a:noFill/>
        </p:spPr>
        <p:txBody>
          <a:bodyPr wrap="square">
            <a:spAutoFit/>
          </a:bodyPr>
          <a:lstStyle/>
          <a:p>
            <a:pPr algn="l"/>
            <a:r>
              <a:rPr sz="950" b="0" i="0">
                <a:solidFill>
                  <a:srgbClr val="444444"/>
                </a:solidFill>
              </a:rPr>
              <a:t>Every artifact type requires specific plugin entries in .hdiconfig. Missing or incorrect plugin registration causes silent deployment failures with no clear error messages, making debugging extremely difficult.</a:t>
            </a:r>
          </a:p>
        </p:txBody>
      </p:sp>
      <p:sp>
        <p:nvSpPr>
          <p:cNvPr id="20" name="Rectangle 19"/>
          <p:cNvSpPr/>
          <p:nvPr/>
        </p:nvSpPr>
        <p:spPr>
          <a:xfrm>
            <a:off x="457200" y="3520440"/>
            <a:ext cx="292608" cy="29260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3520440"/>
            <a:ext cx="292608" cy="292608"/>
          </a:xfrm>
          <a:prstGeom prst="rect">
            <a:avLst/>
          </a:prstGeom>
          <a:noFill/>
        </p:spPr>
        <p:txBody>
          <a:bodyPr wrap="square">
            <a:spAutoFit/>
          </a:bodyPr>
          <a:lstStyle/>
          <a:p>
            <a:pPr algn="ctr"/>
            <a:r>
              <a:rPr sz="900" b="1" i="0">
                <a:solidFill>
                  <a:srgbClr val="FFFFFF"/>
                </a:solidFill>
              </a:rPr>
              <a:t>3</a:t>
            </a:r>
          </a:p>
        </p:txBody>
      </p:sp>
      <p:sp>
        <p:nvSpPr>
          <p:cNvPr id="22" name="TextBox 21"/>
          <p:cNvSpPr txBox="1"/>
          <p:nvPr/>
        </p:nvSpPr>
        <p:spPr>
          <a:xfrm>
            <a:off x="868680" y="3483864"/>
            <a:ext cx="10881360" cy="320040"/>
          </a:xfrm>
          <a:prstGeom prst="rect">
            <a:avLst/>
          </a:prstGeom>
          <a:noFill/>
        </p:spPr>
        <p:txBody>
          <a:bodyPr wrap="square">
            <a:spAutoFit/>
          </a:bodyPr>
          <a:lstStyle/>
          <a:p>
            <a:pPr algn="l"/>
            <a:r>
              <a:rPr sz="1100" b="1" i="0">
                <a:solidFill>
                  <a:srgbClr val="1F1F1F"/>
                </a:solidFill>
              </a:rPr>
              <a:t>Manual WRITE → MAKE → GRANT lifecycle</a:t>
            </a:r>
          </a:p>
        </p:txBody>
      </p:sp>
      <p:sp>
        <p:nvSpPr>
          <p:cNvPr id="23" name="TextBox 22"/>
          <p:cNvSpPr txBox="1"/>
          <p:nvPr/>
        </p:nvSpPr>
        <p:spPr>
          <a:xfrm>
            <a:off x="868680" y="3785616"/>
            <a:ext cx="10881360" cy="621792"/>
          </a:xfrm>
          <a:prstGeom prst="rect">
            <a:avLst/>
          </a:prstGeom>
          <a:noFill/>
        </p:spPr>
        <p:txBody>
          <a:bodyPr wrap="square">
            <a:spAutoFit/>
          </a:bodyPr>
          <a:lstStyle/>
          <a:p>
            <a:pPr algn="l"/>
            <a:r>
              <a:rPr sz="950" b="0" i="0">
                <a:solidFill>
                  <a:srgbClr val="444444"/>
                </a:solidFill>
              </a:rPr>
              <a:t>Developers must manually execute DI API calls in the exact correct order. Any deviation — wrong sequence, missing step, or incorrect parameters — breaks the deployment without surfacing a meaningful error.</a:t>
            </a:r>
          </a:p>
        </p:txBody>
      </p:sp>
      <p:sp>
        <p:nvSpPr>
          <p:cNvPr id="24" name="Rectangle 23"/>
          <p:cNvSpPr/>
          <p:nvPr/>
        </p:nvSpPr>
        <p:spPr>
          <a:xfrm>
            <a:off x="457200" y="4507992"/>
            <a:ext cx="292608" cy="29260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507992"/>
            <a:ext cx="292608" cy="292608"/>
          </a:xfrm>
          <a:prstGeom prst="rect">
            <a:avLst/>
          </a:prstGeom>
          <a:noFill/>
        </p:spPr>
        <p:txBody>
          <a:bodyPr wrap="square">
            <a:spAutoFit/>
          </a:bodyPr>
          <a:lstStyle/>
          <a:p>
            <a:pPr algn="ctr"/>
            <a:r>
              <a:rPr sz="900" b="1" i="0">
                <a:solidFill>
                  <a:srgbClr val="FFFFFF"/>
                </a:solidFill>
              </a:rPr>
              <a:t>4</a:t>
            </a:r>
          </a:p>
        </p:txBody>
      </p:sp>
      <p:sp>
        <p:nvSpPr>
          <p:cNvPr id="26" name="TextBox 25"/>
          <p:cNvSpPr txBox="1"/>
          <p:nvPr/>
        </p:nvSpPr>
        <p:spPr>
          <a:xfrm>
            <a:off x="868680" y="4471416"/>
            <a:ext cx="10881360" cy="320040"/>
          </a:xfrm>
          <a:prstGeom prst="rect">
            <a:avLst/>
          </a:prstGeom>
          <a:noFill/>
        </p:spPr>
        <p:txBody>
          <a:bodyPr wrap="square">
            <a:spAutoFit/>
          </a:bodyPr>
          <a:lstStyle/>
          <a:p>
            <a:pPr algn="l"/>
            <a:r>
              <a:rPr sz="1100" b="1" i="0">
                <a:solidFill>
                  <a:srgbClr val="1F1F1F"/>
                </a:solidFill>
              </a:rPr>
              <a:t>Privilege grants are not automatic</a:t>
            </a:r>
          </a:p>
        </p:txBody>
      </p:sp>
      <p:sp>
        <p:nvSpPr>
          <p:cNvPr id="27" name="TextBox 26"/>
          <p:cNvSpPr txBox="1"/>
          <p:nvPr/>
        </p:nvSpPr>
        <p:spPr>
          <a:xfrm>
            <a:off x="868680" y="4773168"/>
            <a:ext cx="10881360" cy="621792"/>
          </a:xfrm>
          <a:prstGeom prst="rect">
            <a:avLst/>
          </a:prstGeom>
          <a:noFill/>
        </p:spPr>
        <p:txBody>
          <a:bodyPr wrap="square">
            <a:spAutoFit/>
          </a:bodyPr>
          <a:lstStyle/>
          <a:p>
            <a:pPr algn="l"/>
            <a:r>
              <a:rPr sz="950" b="0" i="0">
                <a:solidFill>
                  <a:srgbClr val="444444"/>
                </a:solidFill>
              </a:rPr>
              <a:t>After deployment, schema privileges must be manually granted to enable DBX data preview and downstream access. Developers must know exactly which grants to apply for each artifact type, adding to the knowledge burden.</a:t>
            </a:r>
          </a:p>
        </p:txBody>
      </p:sp>
      <p:sp>
        <p:nvSpPr>
          <p:cNvPr id="28" name="Rectangle 27"/>
          <p:cNvSpPr/>
          <p:nvPr/>
        </p:nvSpPr>
        <p:spPr>
          <a:xfrm>
            <a:off x="457200" y="5495544"/>
            <a:ext cx="292608" cy="29260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5495544"/>
            <a:ext cx="292608" cy="292608"/>
          </a:xfrm>
          <a:prstGeom prst="rect">
            <a:avLst/>
          </a:prstGeom>
          <a:noFill/>
        </p:spPr>
        <p:txBody>
          <a:bodyPr wrap="square">
            <a:spAutoFit/>
          </a:bodyPr>
          <a:lstStyle/>
          <a:p>
            <a:pPr algn="ctr"/>
            <a:r>
              <a:rPr sz="900" b="1" i="0">
                <a:solidFill>
                  <a:srgbClr val="FFFFFF"/>
                </a:solidFill>
              </a:rPr>
              <a:t>5</a:t>
            </a:r>
          </a:p>
        </p:txBody>
      </p:sp>
      <p:sp>
        <p:nvSpPr>
          <p:cNvPr id="30" name="TextBox 29"/>
          <p:cNvSpPr txBox="1"/>
          <p:nvPr/>
        </p:nvSpPr>
        <p:spPr>
          <a:xfrm>
            <a:off x="868680" y="5458968"/>
            <a:ext cx="10881360" cy="320040"/>
          </a:xfrm>
          <a:prstGeom prst="rect">
            <a:avLst/>
          </a:prstGeom>
          <a:noFill/>
        </p:spPr>
        <p:txBody>
          <a:bodyPr wrap="square">
            <a:spAutoFit/>
          </a:bodyPr>
          <a:lstStyle/>
          <a:p>
            <a:pPr algn="l"/>
            <a:r>
              <a:rPr sz="1100" b="1" i="0">
                <a:solidFill>
                  <a:srgbClr val="1F1F1F"/>
                </a:solidFill>
              </a:rPr>
              <a:t>High barrier to full artifact coverage</a:t>
            </a:r>
          </a:p>
        </p:txBody>
      </p:sp>
      <p:sp>
        <p:nvSpPr>
          <p:cNvPr id="31" name="TextBox 30"/>
          <p:cNvSpPr txBox="1"/>
          <p:nvPr/>
        </p:nvSpPr>
        <p:spPr>
          <a:xfrm>
            <a:off x="868680" y="5760720"/>
            <a:ext cx="10881360" cy="621792"/>
          </a:xfrm>
          <a:prstGeom prst="rect">
            <a:avLst/>
          </a:prstGeom>
          <a:noFill/>
        </p:spPr>
        <p:txBody>
          <a:bodyPr wrap="square">
            <a:spAutoFit/>
          </a:bodyPr>
          <a:lstStyle/>
          <a:p>
            <a:pPr algn="l"/>
            <a:r>
              <a:rPr sz="950" b="0" i="0">
                <a:solidFill>
                  <a:srgbClr val="444444"/>
                </a:solidFill>
              </a:rPr>
              <a:t>Because each artifact type has unique quirks (e.g. Calculation Views, Libraries, Virtual Tables), teams typically only use a small subset of HDI capabilities, leaving significant platform features unexplored and underutilised.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182880"/>
            <a:ext cx="804672" cy="377190"/>
          </a:xfrm>
          <a:prstGeom prst="rect">
            <a:avLst/>
          </a:prstGeom>
          <a:solidFill>
            <a:srgbClr val="007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182880"/>
            <a:ext cx="804672" cy="377190"/>
          </a:xfrm>
          <a:prstGeom prst="rect">
            <a:avLst/>
          </a:prstGeom>
          <a:noFill/>
        </p:spPr>
        <p:txBody>
          <a:bodyPr wrap="square">
            <a:spAutoFit/>
          </a:bodyPr>
          <a:lstStyle/>
          <a:p>
            <a:pPr algn="ctr"/>
            <a:r>
              <a:rPr sz="1800" b="1" i="0">
                <a:solidFill>
                  <a:srgbClr val="FFFFFF"/>
                </a:solidFill>
              </a:rPr>
              <a:t>SAP</a:t>
            </a:r>
          </a:p>
        </p:txBody>
      </p:sp>
      <p:sp>
        <p:nvSpPr>
          <p:cNvPr id="6" name="TextBox 5"/>
          <p:cNvSpPr txBox="1"/>
          <p:nvPr/>
        </p:nvSpPr>
        <p:spPr>
          <a:xfrm>
            <a:off x="10515600" y="73152"/>
            <a:ext cx="1554480" cy="228600"/>
          </a:xfrm>
          <a:prstGeom prst="rect">
            <a:avLst/>
          </a:prstGeom>
          <a:noFill/>
        </p:spPr>
        <p:txBody>
          <a:bodyPr wrap="square">
            <a:spAutoFit/>
          </a:bodyPr>
          <a:lstStyle/>
          <a:p>
            <a:pPr algn="r"/>
            <a:r>
              <a:rPr sz="800" b="0" i="0">
                <a:solidFill>
                  <a:srgbClr val="AACCFF"/>
                </a:solidFill>
              </a:rPr>
              <a:t>SLIDE 3 OF 4</a:t>
            </a:r>
          </a:p>
        </p:txBody>
      </p:sp>
      <p:sp>
        <p:nvSpPr>
          <p:cNvPr id="7" name="TextBox 6"/>
          <p:cNvSpPr txBox="1"/>
          <p:nvPr/>
        </p:nvSpPr>
        <p:spPr>
          <a:xfrm>
            <a:off x="320040" y="274320"/>
            <a:ext cx="10972800" cy="502920"/>
          </a:xfrm>
          <a:prstGeom prst="rect">
            <a:avLst/>
          </a:prstGeom>
          <a:noFill/>
        </p:spPr>
        <p:txBody>
          <a:bodyPr wrap="square">
            <a:spAutoFit/>
          </a:bodyPr>
          <a:lstStyle/>
          <a:p>
            <a:pPr algn="l"/>
            <a:r>
              <a:rPr sz="2400" b="1" i="0">
                <a:solidFill>
                  <a:srgbClr val="FFFFFF"/>
                </a:solidFill>
              </a:rPr>
              <a:t>Proposed Solution: HDI-Agent</a:t>
            </a:r>
          </a:p>
        </p:txBody>
      </p:sp>
      <p:sp>
        <p:nvSpPr>
          <p:cNvPr id="8" name="TextBox 7"/>
          <p:cNvSpPr txBox="1"/>
          <p:nvPr/>
        </p:nvSpPr>
        <p:spPr>
          <a:xfrm>
            <a:off x="320040" y="749808"/>
            <a:ext cx="10972800" cy="256032"/>
          </a:xfrm>
          <a:prstGeom prst="rect">
            <a:avLst/>
          </a:prstGeom>
          <a:noFill/>
        </p:spPr>
        <p:txBody>
          <a:bodyPr wrap="square">
            <a:spAutoFit/>
          </a:bodyPr>
          <a:lstStyle/>
          <a:p>
            <a:pPr algn="l"/>
            <a:r>
              <a:rPr sz="1100" b="0" i="0">
                <a:solidFill>
                  <a:srgbClr val="B8D0FF"/>
                </a:solidFill>
              </a:rPr>
              <a:t>An AI-powered agent that removes the complexity of HDI deployment</a:t>
            </a:r>
          </a:p>
        </p:txBody>
      </p:sp>
      <p:sp>
        <p:nvSpPr>
          <p:cNvPr id="9" name="Rectangle 8"/>
          <p:cNvSpPr/>
          <p:nvPr/>
        </p:nvSpPr>
        <p:spPr>
          <a:xfrm>
            <a:off x="0" y="1005840"/>
            <a:ext cx="12188952" cy="36576"/>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097280"/>
            <a:ext cx="11274552" cy="804672"/>
          </a:xfrm>
          <a:prstGeom prst="rect">
            <a:avLst/>
          </a:prstGeom>
          <a:solidFill>
            <a:srgbClr val="EEF4FF"/>
          </a:solidFill>
          <a:ln w="19050">
            <a:solidFill>
              <a:srgbClr val="005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170432"/>
            <a:ext cx="10908792" cy="685800"/>
          </a:xfrm>
          <a:prstGeom prst="rect">
            <a:avLst/>
          </a:prstGeom>
          <a:noFill/>
        </p:spPr>
        <p:txBody>
          <a:bodyPr wrap="square">
            <a:spAutoFit/>
          </a:bodyPr>
          <a:lstStyle/>
          <a:p>
            <a:pPr algn="l"/>
            <a:r>
              <a:rPr sz="1000" b="0" i="0">
                <a:solidFill>
                  <a:srgbClr val="1F1F1F"/>
                </a:solidFill>
              </a:rPr>
              <a:t>HDI-Agent is a conversational AI assistant that enables any developer to create, deploy, and manage SAP HANA HDI artifacts using plain English — no HDI syntax knowledge required. Powered by GPT-4o and integrated directly with the SAP HANA Cloud DI API, HDI-Agent handles the full deployment lifecycle automatically, from DDL generation to privilege grants.</a:t>
            </a:r>
          </a:p>
        </p:txBody>
      </p:sp>
      <p:sp>
        <p:nvSpPr>
          <p:cNvPr id="12" name="TextBox 11"/>
          <p:cNvSpPr txBox="1"/>
          <p:nvPr/>
        </p:nvSpPr>
        <p:spPr>
          <a:xfrm>
            <a:off x="457200" y="2029968"/>
            <a:ext cx="5486400" cy="228600"/>
          </a:xfrm>
          <a:prstGeom prst="rect">
            <a:avLst/>
          </a:prstGeom>
          <a:noFill/>
        </p:spPr>
        <p:txBody>
          <a:bodyPr wrap="square">
            <a:spAutoFit/>
          </a:bodyPr>
          <a:lstStyle/>
          <a:p>
            <a:pPr algn="l"/>
            <a:r>
              <a:rPr sz="800" b="1" i="0">
                <a:solidFill>
                  <a:srgbClr val="003087"/>
                </a:solidFill>
              </a:rPr>
              <a:t>KEY CAPABILITIES</a:t>
            </a:r>
          </a:p>
        </p:txBody>
      </p:sp>
      <p:sp>
        <p:nvSpPr>
          <p:cNvPr id="13" name="Rectangle 12"/>
          <p:cNvSpPr/>
          <p:nvPr/>
        </p:nvSpPr>
        <p:spPr>
          <a:xfrm>
            <a:off x="457200" y="2258568"/>
            <a:ext cx="11274552" cy="2743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331720"/>
            <a:ext cx="5486400" cy="1280160"/>
          </a:xfrm>
          <a:prstGeom prst="rect">
            <a:avLst/>
          </a:prstGeom>
          <a:solidFill>
            <a:srgbClr val="F7FAFF"/>
          </a:solidFill>
          <a:ln w="19050">
            <a:solidFill>
              <a:srgbClr val="C5D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2423160"/>
            <a:ext cx="457200" cy="365760"/>
          </a:xfrm>
          <a:prstGeom prst="rect">
            <a:avLst/>
          </a:prstGeom>
          <a:noFill/>
        </p:spPr>
        <p:txBody>
          <a:bodyPr wrap="square">
            <a:spAutoFit/>
          </a:bodyPr>
          <a:lstStyle/>
          <a:p>
            <a:pPr algn="l"/>
            <a:r>
              <a:rPr sz="1600" b="0" i="0">
                <a:solidFill>
                  <a:srgbClr val="FFFFFF"/>
                </a:solidFill>
              </a:rPr>
              <a:t>🚀</a:t>
            </a:r>
          </a:p>
        </p:txBody>
      </p:sp>
      <p:sp>
        <p:nvSpPr>
          <p:cNvPr id="16" name="TextBox 15"/>
          <p:cNvSpPr txBox="1"/>
          <p:nvPr/>
        </p:nvSpPr>
        <p:spPr>
          <a:xfrm>
            <a:off x="1005840" y="2423160"/>
            <a:ext cx="4846320" cy="320040"/>
          </a:xfrm>
          <a:prstGeom prst="rect">
            <a:avLst/>
          </a:prstGeom>
          <a:noFill/>
        </p:spPr>
        <p:txBody>
          <a:bodyPr wrap="square">
            <a:spAutoFit/>
          </a:bodyPr>
          <a:lstStyle/>
          <a:p>
            <a:pPr algn="l"/>
            <a:r>
              <a:rPr sz="1050" b="1" i="0">
                <a:solidFill>
                  <a:srgbClr val="003087"/>
                </a:solidFill>
              </a:rPr>
              <a:t>Natural Language Deployment</a:t>
            </a:r>
          </a:p>
        </p:txBody>
      </p:sp>
      <p:sp>
        <p:nvSpPr>
          <p:cNvPr id="17" name="TextBox 16"/>
          <p:cNvSpPr txBox="1"/>
          <p:nvPr/>
        </p:nvSpPr>
        <p:spPr>
          <a:xfrm>
            <a:off x="566928" y="2770632"/>
            <a:ext cx="5266944" cy="777240"/>
          </a:xfrm>
          <a:prstGeom prst="rect">
            <a:avLst/>
          </a:prstGeom>
          <a:noFill/>
        </p:spPr>
        <p:txBody>
          <a:bodyPr wrap="square">
            <a:spAutoFit/>
          </a:bodyPr>
          <a:lstStyle/>
          <a:p>
            <a:pPr algn="l"/>
            <a:r>
              <a:rPr sz="900" b="0" i="0">
                <a:solidFill>
                  <a:srgbClr val="444444"/>
                </a:solidFill>
              </a:rPr>
              <a:t>Describe any HDI artifact in plain English — HDI-Agent generates valid DDL, registers the correct plugin, and deploys to your container automatically.</a:t>
            </a:r>
          </a:p>
        </p:txBody>
      </p:sp>
      <p:sp>
        <p:nvSpPr>
          <p:cNvPr id="18" name="Rectangle 17"/>
          <p:cNvSpPr/>
          <p:nvPr/>
        </p:nvSpPr>
        <p:spPr>
          <a:xfrm>
            <a:off x="6400800" y="2331720"/>
            <a:ext cx="5486400" cy="1280160"/>
          </a:xfrm>
          <a:prstGeom prst="rect">
            <a:avLst/>
          </a:prstGeom>
          <a:solidFill>
            <a:srgbClr val="F7FAFF"/>
          </a:solidFill>
          <a:ln w="19050">
            <a:solidFill>
              <a:srgbClr val="C5D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0528" y="2423160"/>
            <a:ext cx="457200" cy="365760"/>
          </a:xfrm>
          <a:prstGeom prst="rect">
            <a:avLst/>
          </a:prstGeom>
          <a:noFill/>
        </p:spPr>
        <p:txBody>
          <a:bodyPr wrap="square">
            <a:spAutoFit/>
          </a:bodyPr>
          <a:lstStyle/>
          <a:p>
            <a:pPr algn="l"/>
            <a:r>
              <a:rPr sz="1600" b="0" i="0">
                <a:solidFill>
                  <a:srgbClr val="FFFFFF"/>
                </a:solidFill>
              </a:rPr>
              <a:t>⚙️</a:t>
            </a:r>
          </a:p>
        </p:txBody>
      </p:sp>
      <p:sp>
        <p:nvSpPr>
          <p:cNvPr id="20" name="TextBox 19"/>
          <p:cNvSpPr txBox="1"/>
          <p:nvPr/>
        </p:nvSpPr>
        <p:spPr>
          <a:xfrm>
            <a:off x="6949440" y="2423160"/>
            <a:ext cx="4846320" cy="320040"/>
          </a:xfrm>
          <a:prstGeom prst="rect">
            <a:avLst/>
          </a:prstGeom>
          <a:noFill/>
        </p:spPr>
        <p:txBody>
          <a:bodyPr wrap="square">
            <a:spAutoFit/>
          </a:bodyPr>
          <a:lstStyle/>
          <a:p>
            <a:pPr algn="l"/>
            <a:r>
              <a:rPr sz="1050" b="1" i="0">
                <a:solidFill>
                  <a:srgbClr val="003087"/>
                </a:solidFill>
              </a:rPr>
              <a:t>Automatic Plugin &amp; .hdiconfig Management</a:t>
            </a:r>
          </a:p>
        </p:txBody>
      </p:sp>
      <p:sp>
        <p:nvSpPr>
          <p:cNvPr id="21" name="TextBox 20"/>
          <p:cNvSpPr txBox="1"/>
          <p:nvPr/>
        </p:nvSpPr>
        <p:spPr>
          <a:xfrm>
            <a:off x="6510528" y="2770632"/>
            <a:ext cx="5266944" cy="777240"/>
          </a:xfrm>
          <a:prstGeom prst="rect">
            <a:avLst/>
          </a:prstGeom>
          <a:noFill/>
        </p:spPr>
        <p:txBody>
          <a:bodyPr wrap="square">
            <a:spAutoFit/>
          </a:bodyPr>
          <a:lstStyle/>
          <a:p>
            <a:pPr algn="l"/>
            <a:r>
              <a:rPr sz="900" b="0" i="0">
                <a:solidFill>
                  <a:srgbClr val="444444"/>
                </a:solidFill>
              </a:rPr>
              <a:t>HDI-Agent maintains .hdiconfig automatically for every artifact type, eliminating manual plugin registration and preventing silent deployment failures.</a:t>
            </a:r>
          </a:p>
        </p:txBody>
      </p:sp>
      <p:sp>
        <p:nvSpPr>
          <p:cNvPr id="22" name="Rectangle 21"/>
          <p:cNvSpPr/>
          <p:nvPr/>
        </p:nvSpPr>
        <p:spPr>
          <a:xfrm>
            <a:off x="457200" y="3749040"/>
            <a:ext cx="5486400" cy="1280160"/>
          </a:xfrm>
          <a:prstGeom prst="rect">
            <a:avLst/>
          </a:prstGeom>
          <a:solidFill>
            <a:srgbClr val="F7FAFF"/>
          </a:solidFill>
          <a:ln w="19050">
            <a:solidFill>
              <a:srgbClr val="C5D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3840480"/>
            <a:ext cx="457200" cy="365760"/>
          </a:xfrm>
          <a:prstGeom prst="rect">
            <a:avLst/>
          </a:prstGeom>
          <a:noFill/>
        </p:spPr>
        <p:txBody>
          <a:bodyPr wrap="square">
            <a:spAutoFit/>
          </a:bodyPr>
          <a:lstStyle/>
          <a:p>
            <a:pPr algn="l"/>
            <a:r>
              <a:rPr sz="1600" b="0" i="0">
                <a:solidFill>
                  <a:srgbClr val="FFFFFF"/>
                </a:solidFill>
              </a:rPr>
              <a:t>🔐</a:t>
            </a:r>
          </a:p>
        </p:txBody>
      </p:sp>
      <p:sp>
        <p:nvSpPr>
          <p:cNvPr id="24" name="TextBox 23"/>
          <p:cNvSpPr txBox="1"/>
          <p:nvPr/>
        </p:nvSpPr>
        <p:spPr>
          <a:xfrm>
            <a:off x="1005840" y="3840480"/>
            <a:ext cx="4846320" cy="320040"/>
          </a:xfrm>
          <a:prstGeom prst="rect">
            <a:avLst/>
          </a:prstGeom>
          <a:noFill/>
        </p:spPr>
        <p:txBody>
          <a:bodyPr wrap="square">
            <a:spAutoFit/>
          </a:bodyPr>
          <a:lstStyle/>
          <a:p>
            <a:pPr algn="l"/>
            <a:r>
              <a:rPr sz="1050" b="1" i="0">
                <a:solidFill>
                  <a:srgbClr val="003087"/>
                </a:solidFill>
              </a:rPr>
              <a:t>Zero-Touch Privilege Management</a:t>
            </a:r>
          </a:p>
        </p:txBody>
      </p:sp>
      <p:sp>
        <p:nvSpPr>
          <p:cNvPr id="25" name="TextBox 24"/>
          <p:cNvSpPr txBox="1"/>
          <p:nvPr/>
        </p:nvSpPr>
        <p:spPr>
          <a:xfrm>
            <a:off x="566928" y="4187952"/>
            <a:ext cx="5266944" cy="777240"/>
          </a:xfrm>
          <a:prstGeom prst="rect">
            <a:avLst/>
          </a:prstGeom>
          <a:noFill/>
        </p:spPr>
        <p:txBody>
          <a:bodyPr wrap="square">
            <a:spAutoFit/>
          </a:bodyPr>
          <a:lstStyle/>
          <a:p>
            <a:pPr algn="l"/>
            <a:r>
              <a:rPr sz="900" b="0" i="0">
                <a:solidFill>
                  <a:srgbClr val="444444"/>
                </a:solidFill>
              </a:rPr>
              <a:t>Schema privileges are granted automatically after every deployment — DBX data preview and downstream consumers work immediately without manual intervention.</a:t>
            </a:r>
          </a:p>
        </p:txBody>
      </p:sp>
      <p:sp>
        <p:nvSpPr>
          <p:cNvPr id="26" name="Rectangle 25"/>
          <p:cNvSpPr/>
          <p:nvPr/>
        </p:nvSpPr>
        <p:spPr>
          <a:xfrm>
            <a:off x="6400800" y="3749040"/>
            <a:ext cx="5486400" cy="1280160"/>
          </a:xfrm>
          <a:prstGeom prst="rect">
            <a:avLst/>
          </a:prstGeom>
          <a:solidFill>
            <a:srgbClr val="F7FAFF"/>
          </a:solidFill>
          <a:ln w="19050">
            <a:solidFill>
              <a:srgbClr val="C5D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10528" y="3840480"/>
            <a:ext cx="457200" cy="365760"/>
          </a:xfrm>
          <a:prstGeom prst="rect">
            <a:avLst/>
          </a:prstGeom>
          <a:noFill/>
        </p:spPr>
        <p:txBody>
          <a:bodyPr wrap="square">
            <a:spAutoFit/>
          </a:bodyPr>
          <a:lstStyle/>
          <a:p>
            <a:pPr algn="l"/>
            <a:r>
              <a:rPr sz="1600" b="0" i="0">
                <a:solidFill>
                  <a:srgbClr val="FFFFFF"/>
                </a:solidFill>
              </a:rPr>
              <a:t>🔍</a:t>
            </a:r>
          </a:p>
        </p:txBody>
      </p:sp>
      <p:sp>
        <p:nvSpPr>
          <p:cNvPr id="28" name="TextBox 27"/>
          <p:cNvSpPr txBox="1"/>
          <p:nvPr/>
        </p:nvSpPr>
        <p:spPr>
          <a:xfrm>
            <a:off x="6949440" y="3840480"/>
            <a:ext cx="4846320" cy="320040"/>
          </a:xfrm>
          <a:prstGeom prst="rect">
            <a:avLst/>
          </a:prstGeom>
          <a:noFill/>
        </p:spPr>
        <p:txBody>
          <a:bodyPr wrap="square">
            <a:spAutoFit/>
          </a:bodyPr>
          <a:lstStyle/>
          <a:p>
            <a:pPr algn="l"/>
            <a:r>
              <a:rPr sz="1050" b="1" i="0">
                <a:solidFill>
                  <a:srgbClr val="003087"/>
                </a:solidFill>
              </a:rPr>
              <a:t>Intelligent Error Detection &amp; Recovery</a:t>
            </a:r>
          </a:p>
        </p:txBody>
      </p:sp>
      <p:sp>
        <p:nvSpPr>
          <p:cNvPr id="29" name="TextBox 28"/>
          <p:cNvSpPr txBox="1"/>
          <p:nvPr/>
        </p:nvSpPr>
        <p:spPr>
          <a:xfrm>
            <a:off x="6510528" y="4187952"/>
            <a:ext cx="5266944" cy="777240"/>
          </a:xfrm>
          <a:prstGeom prst="rect">
            <a:avLst/>
          </a:prstGeom>
          <a:noFill/>
        </p:spPr>
        <p:txBody>
          <a:bodyPr wrap="square">
            <a:spAutoFit/>
          </a:bodyPr>
          <a:lstStyle/>
          <a:p>
            <a:pPr algn="l"/>
            <a:r>
              <a:rPr sz="900" b="0" i="0">
                <a:solidFill>
                  <a:srgbClr val="444444"/>
                </a:solidFill>
              </a:rPr>
              <a:t>Queries M_MESSAGES after every MAKE operation to catch rc=0 failures — especially for Calculation Views and Libraries — with automatic diagnostic logging.</a:t>
            </a:r>
          </a:p>
        </p:txBody>
      </p:sp>
      <p:sp>
        <p:nvSpPr>
          <p:cNvPr id="30" name="Rectangle 29"/>
          <p:cNvSpPr/>
          <p:nvPr/>
        </p:nvSpPr>
        <p:spPr>
          <a:xfrm>
            <a:off x="457200" y="5166360"/>
            <a:ext cx="11430000" cy="1280160"/>
          </a:xfrm>
          <a:prstGeom prst="rect">
            <a:avLst/>
          </a:prstGeom>
          <a:solidFill>
            <a:srgbClr val="F7FAFF"/>
          </a:solidFill>
          <a:ln w="19050">
            <a:solidFill>
              <a:srgbClr val="C5D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5257800"/>
            <a:ext cx="457200" cy="365760"/>
          </a:xfrm>
          <a:prstGeom prst="rect">
            <a:avLst/>
          </a:prstGeom>
          <a:noFill/>
        </p:spPr>
        <p:txBody>
          <a:bodyPr wrap="square">
            <a:spAutoFit/>
          </a:bodyPr>
          <a:lstStyle/>
          <a:p>
            <a:pPr algn="l"/>
            <a:r>
              <a:rPr sz="1600" b="0" i="0">
                <a:solidFill>
                  <a:srgbClr val="FFFFFF"/>
                </a:solidFill>
              </a:rPr>
              <a:t>📦</a:t>
            </a:r>
          </a:p>
        </p:txBody>
      </p:sp>
      <p:sp>
        <p:nvSpPr>
          <p:cNvPr id="32" name="TextBox 31"/>
          <p:cNvSpPr txBox="1"/>
          <p:nvPr/>
        </p:nvSpPr>
        <p:spPr>
          <a:xfrm>
            <a:off x="1005840" y="5257800"/>
            <a:ext cx="10789920" cy="320040"/>
          </a:xfrm>
          <a:prstGeom prst="rect">
            <a:avLst/>
          </a:prstGeom>
          <a:noFill/>
        </p:spPr>
        <p:txBody>
          <a:bodyPr wrap="square">
            <a:spAutoFit/>
          </a:bodyPr>
          <a:lstStyle/>
          <a:p>
            <a:pPr algn="l"/>
            <a:r>
              <a:rPr sz="1050" b="1" i="0">
                <a:solidFill>
                  <a:srgbClr val="003087"/>
                </a:solidFill>
              </a:rPr>
              <a:t>Complete HDI Artifact Coverage</a:t>
            </a:r>
          </a:p>
        </p:txBody>
      </p:sp>
      <p:sp>
        <p:nvSpPr>
          <p:cNvPr id="33" name="TextBox 32"/>
          <p:cNvSpPr txBox="1"/>
          <p:nvPr/>
        </p:nvSpPr>
        <p:spPr>
          <a:xfrm>
            <a:off x="566928" y="5605272"/>
            <a:ext cx="11210544" cy="777240"/>
          </a:xfrm>
          <a:prstGeom prst="rect">
            <a:avLst/>
          </a:prstGeom>
          <a:noFill/>
        </p:spPr>
        <p:txBody>
          <a:bodyPr wrap="square">
            <a:spAutoFit/>
          </a:bodyPr>
          <a:lstStyle/>
          <a:p>
            <a:pPr algn="l"/>
            <a:r>
              <a:rPr sz="900" b="0" i="0">
                <a:solidFill>
                  <a:srgbClr val="444444"/>
                </a:solidFill>
              </a:rPr>
              <a:t>Full support for 30+ artifact types including tables, views, calculation views, procedures, libraries, virtual tables, synonyms, roles, indexes and more — all accessible through a single natural language interface.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182880"/>
            <a:ext cx="804672" cy="377190"/>
          </a:xfrm>
          <a:prstGeom prst="rect">
            <a:avLst/>
          </a:prstGeom>
          <a:solidFill>
            <a:srgbClr val="007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182880"/>
            <a:ext cx="804672" cy="377190"/>
          </a:xfrm>
          <a:prstGeom prst="rect">
            <a:avLst/>
          </a:prstGeom>
          <a:noFill/>
        </p:spPr>
        <p:txBody>
          <a:bodyPr wrap="square">
            <a:spAutoFit/>
          </a:bodyPr>
          <a:lstStyle/>
          <a:p>
            <a:pPr algn="ctr"/>
            <a:r>
              <a:rPr sz="1800" b="1" i="0">
                <a:solidFill>
                  <a:srgbClr val="FFFFFF"/>
                </a:solidFill>
              </a:rPr>
              <a:t>SAP</a:t>
            </a:r>
          </a:p>
        </p:txBody>
      </p:sp>
      <p:sp>
        <p:nvSpPr>
          <p:cNvPr id="6" name="TextBox 5"/>
          <p:cNvSpPr txBox="1"/>
          <p:nvPr/>
        </p:nvSpPr>
        <p:spPr>
          <a:xfrm>
            <a:off x="10515600" y="73152"/>
            <a:ext cx="1554480" cy="228600"/>
          </a:xfrm>
          <a:prstGeom prst="rect">
            <a:avLst/>
          </a:prstGeom>
          <a:noFill/>
        </p:spPr>
        <p:txBody>
          <a:bodyPr wrap="square">
            <a:spAutoFit/>
          </a:bodyPr>
          <a:lstStyle/>
          <a:p>
            <a:pPr algn="r"/>
            <a:r>
              <a:rPr sz="800" b="0" i="0">
                <a:solidFill>
                  <a:srgbClr val="AACCFF"/>
                </a:solidFill>
              </a:rPr>
              <a:t>SLIDE 4 OF 4</a:t>
            </a:r>
          </a:p>
        </p:txBody>
      </p:sp>
      <p:sp>
        <p:nvSpPr>
          <p:cNvPr id="7" name="TextBox 6"/>
          <p:cNvSpPr txBox="1"/>
          <p:nvPr/>
        </p:nvSpPr>
        <p:spPr>
          <a:xfrm>
            <a:off x="320040" y="274320"/>
            <a:ext cx="10972800" cy="502920"/>
          </a:xfrm>
          <a:prstGeom prst="rect">
            <a:avLst/>
          </a:prstGeom>
          <a:noFill/>
        </p:spPr>
        <p:txBody>
          <a:bodyPr wrap="square">
            <a:spAutoFit/>
          </a:bodyPr>
          <a:lstStyle/>
          <a:p>
            <a:pPr algn="l"/>
            <a:r>
              <a:rPr sz="2400" b="1" i="0">
                <a:solidFill>
                  <a:srgbClr val="FFFFFF"/>
                </a:solidFill>
              </a:rPr>
              <a:t>How It Works</a:t>
            </a:r>
          </a:p>
        </p:txBody>
      </p:sp>
      <p:sp>
        <p:nvSpPr>
          <p:cNvPr id="8" name="TextBox 7"/>
          <p:cNvSpPr txBox="1"/>
          <p:nvPr/>
        </p:nvSpPr>
        <p:spPr>
          <a:xfrm>
            <a:off x="320040" y="749808"/>
            <a:ext cx="10972800" cy="256032"/>
          </a:xfrm>
          <a:prstGeom prst="rect">
            <a:avLst/>
          </a:prstGeom>
          <a:noFill/>
        </p:spPr>
        <p:txBody>
          <a:bodyPr wrap="square">
            <a:spAutoFit/>
          </a:bodyPr>
          <a:lstStyle/>
          <a:p>
            <a:pPr algn="l"/>
            <a:r>
              <a:rPr sz="1100" b="0" i="0">
                <a:solidFill>
                  <a:srgbClr val="B8D0FF"/>
                </a:solidFill>
              </a:rPr>
              <a:t>From natural language to deployed HANA artifacts — end-to-end in seconds</a:t>
            </a:r>
          </a:p>
        </p:txBody>
      </p:sp>
      <p:sp>
        <p:nvSpPr>
          <p:cNvPr id="9" name="Rectangle 8"/>
          <p:cNvSpPr/>
          <p:nvPr/>
        </p:nvSpPr>
        <p:spPr>
          <a:xfrm>
            <a:off x="0" y="1005840"/>
            <a:ext cx="12188952" cy="36576"/>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1143000"/>
            <a:ext cx="3291840" cy="45720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1188720"/>
            <a:ext cx="3108960" cy="384048"/>
          </a:xfrm>
          <a:prstGeom prst="rect">
            <a:avLst/>
          </a:prstGeom>
          <a:noFill/>
        </p:spPr>
        <p:txBody>
          <a:bodyPr wrap="square">
            <a:spAutoFit/>
          </a:bodyPr>
          <a:lstStyle/>
          <a:p>
            <a:pPr algn="l"/>
            <a:r>
              <a:rPr sz="1100" b="1" i="0">
                <a:solidFill>
                  <a:srgbClr val="FFFFFF"/>
                </a:solidFill>
              </a:rPr>
              <a:t>💬  ① User Input</a:t>
            </a:r>
          </a:p>
        </p:txBody>
      </p:sp>
      <p:sp>
        <p:nvSpPr>
          <p:cNvPr id="12" name="Rectangle 11"/>
          <p:cNvSpPr/>
          <p:nvPr/>
        </p:nvSpPr>
        <p:spPr>
          <a:xfrm>
            <a:off x="411480" y="1600200"/>
            <a:ext cx="3291840" cy="3867912"/>
          </a:xfrm>
          <a:prstGeom prst="rect">
            <a:avLst/>
          </a:prstGeom>
          <a:solidFill>
            <a:srgbClr val="DBEAFE"/>
          </a:solidFill>
          <a:ln w="19050">
            <a:solidFill>
              <a:srgbClr val="005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548640" y="1709928"/>
            <a:ext cx="3017520" cy="502920"/>
          </a:xfrm>
          <a:prstGeom prst="rect">
            <a:avLst/>
          </a:prstGeom>
          <a:noFill/>
        </p:spPr>
        <p:txBody>
          <a:bodyPr wrap="square">
            <a:spAutoFit/>
          </a:bodyPr>
          <a:lstStyle/>
          <a:p>
            <a:pPr algn="l"/>
            <a:r>
              <a:rPr sz="950" b="0" i="0" dirty="0">
                <a:solidFill>
                  <a:srgbClr val="1F1F1F"/>
                </a:solidFill>
              </a:rPr>
              <a:t>•  Developer types a request in the HDI-Agent chat UI</a:t>
            </a:r>
          </a:p>
        </p:txBody>
      </p:sp>
      <p:sp>
        <p:nvSpPr>
          <p:cNvPr id="14" name="TextBox 13"/>
          <p:cNvSpPr txBox="1"/>
          <p:nvPr/>
        </p:nvSpPr>
        <p:spPr>
          <a:xfrm>
            <a:off x="548640" y="2276856"/>
            <a:ext cx="3017520" cy="502920"/>
          </a:xfrm>
          <a:prstGeom prst="rect">
            <a:avLst/>
          </a:prstGeom>
          <a:noFill/>
        </p:spPr>
        <p:txBody>
          <a:bodyPr wrap="square">
            <a:spAutoFit/>
          </a:bodyPr>
          <a:lstStyle/>
          <a:p>
            <a:pPr algn="l"/>
            <a:r>
              <a:rPr sz="950" b="0" i="0">
                <a:solidFill>
                  <a:srgbClr val="1F1F1F"/>
                </a:solidFill>
              </a:rPr>
              <a:t>•  e.g. "Create a SALES_ORDER table with order ID, amount, and status"</a:t>
            </a:r>
          </a:p>
        </p:txBody>
      </p:sp>
      <p:sp>
        <p:nvSpPr>
          <p:cNvPr id="15" name="TextBox 14"/>
          <p:cNvSpPr txBox="1"/>
          <p:nvPr/>
        </p:nvSpPr>
        <p:spPr>
          <a:xfrm>
            <a:off x="548640" y="2843784"/>
            <a:ext cx="3017520" cy="502920"/>
          </a:xfrm>
          <a:prstGeom prst="rect">
            <a:avLst/>
          </a:prstGeom>
          <a:noFill/>
        </p:spPr>
        <p:txBody>
          <a:bodyPr wrap="square">
            <a:spAutoFit/>
          </a:bodyPr>
          <a:lstStyle/>
          <a:p>
            <a:pPr algn="l"/>
            <a:r>
              <a:rPr sz="950" b="0" i="0">
                <a:solidFill>
                  <a:srgbClr val="1F1F1F"/>
                </a:solidFill>
              </a:rPr>
              <a:t>•  No HDI syntax or plugin knowledge required</a:t>
            </a:r>
          </a:p>
        </p:txBody>
      </p:sp>
      <p:sp>
        <p:nvSpPr>
          <p:cNvPr id="16" name="TextBox 15"/>
          <p:cNvSpPr txBox="1"/>
          <p:nvPr/>
        </p:nvSpPr>
        <p:spPr>
          <a:xfrm>
            <a:off x="548640" y="3410712"/>
            <a:ext cx="3017520" cy="502920"/>
          </a:xfrm>
          <a:prstGeom prst="rect">
            <a:avLst/>
          </a:prstGeom>
          <a:noFill/>
        </p:spPr>
        <p:txBody>
          <a:bodyPr wrap="square">
            <a:spAutoFit/>
          </a:bodyPr>
          <a:lstStyle/>
          <a:p>
            <a:pPr algn="l"/>
            <a:r>
              <a:rPr sz="950" b="0" i="0" dirty="0">
                <a:solidFill>
                  <a:srgbClr val="1F1F1F"/>
                </a:solidFill>
              </a:rPr>
              <a:t>•  Works in any browser — no BAS or local setup needed</a:t>
            </a:r>
          </a:p>
        </p:txBody>
      </p:sp>
      <p:sp>
        <p:nvSpPr>
          <p:cNvPr id="17" name="TextBox 16"/>
          <p:cNvSpPr txBox="1"/>
          <p:nvPr/>
        </p:nvSpPr>
        <p:spPr>
          <a:xfrm>
            <a:off x="3749040" y="2148840"/>
            <a:ext cx="411480" cy="430887"/>
          </a:xfrm>
          <a:prstGeom prst="rect">
            <a:avLst/>
          </a:prstGeom>
          <a:noFill/>
        </p:spPr>
        <p:txBody>
          <a:bodyPr wrap="square">
            <a:spAutoFit/>
          </a:bodyPr>
          <a:lstStyle/>
          <a:p>
            <a:pPr algn="ctr"/>
            <a:r>
              <a:rPr sz="2200" b="0" i="0" dirty="0">
                <a:solidFill>
                  <a:srgbClr val="444444"/>
                </a:solidFill>
              </a:rPr>
              <a:t>→</a:t>
            </a:r>
          </a:p>
        </p:txBody>
      </p:sp>
      <p:sp>
        <p:nvSpPr>
          <p:cNvPr id="18" name="Rectangle 17"/>
          <p:cNvSpPr/>
          <p:nvPr/>
        </p:nvSpPr>
        <p:spPr>
          <a:xfrm>
            <a:off x="4069080" y="1143000"/>
            <a:ext cx="3291840" cy="4572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0520" y="1188720"/>
            <a:ext cx="3108960" cy="384048"/>
          </a:xfrm>
          <a:prstGeom prst="rect">
            <a:avLst/>
          </a:prstGeom>
          <a:noFill/>
        </p:spPr>
        <p:txBody>
          <a:bodyPr wrap="square">
            <a:spAutoFit/>
          </a:bodyPr>
          <a:lstStyle/>
          <a:p>
            <a:pPr algn="l"/>
            <a:r>
              <a:rPr sz="1100" b="1" i="0">
                <a:solidFill>
                  <a:srgbClr val="FFFFFF"/>
                </a:solidFill>
              </a:rPr>
              <a:t>🤖  ② HDI-Agent Processing</a:t>
            </a:r>
          </a:p>
        </p:txBody>
      </p:sp>
      <p:sp>
        <p:nvSpPr>
          <p:cNvPr id="20" name="Rectangle 19"/>
          <p:cNvSpPr/>
          <p:nvPr/>
        </p:nvSpPr>
        <p:spPr>
          <a:xfrm>
            <a:off x="2423160" y="5852160"/>
            <a:ext cx="3291840" cy="4114800"/>
          </a:xfrm>
          <a:prstGeom prst="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06240" y="1709928"/>
            <a:ext cx="3017520" cy="502920"/>
          </a:xfrm>
          <a:prstGeom prst="rect">
            <a:avLst/>
          </a:prstGeom>
          <a:noFill/>
        </p:spPr>
        <p:txBody>
          <a:bodyPr wrap="square">
            <a:spAutoFit/>
          </a:bodyPr>
          <a:lstStyle/>
          <a:p>
            <a:pPr algn="l"/>
            <a:r>
              <a:rPr sz="950" b="0" i="0" dirty="0">
                <a:solidFill>
                  <a:srgbClr val="1F1F1F"/>
                </a:solidFill>
              </a:rPr>
              <a:t>•  GPT-4o reads request + artifact documentation</a:t>
            </a:r>
          </a:p>
        </p:txBody>
      </p:sp>
      <p:sp>
        <p:nvSpPr>
          <p:cNvPr id="22" name="TextBox 21"/>
          <p:cNvSpPr txBox="1"/>
          <p:nvPr/>
        </p:nvSpPr>
        <p:spPr>
          <a:xfrm>
            <a:off x="4206240" y="2276856"/>
            <a:ext cx="3017520" cy="502920"/>
          </a:xfrm>
          <a:prstGeom prst="rect">
            <a:avLst/>
          </a:prstGeom>
          <a:noFill/>
        </p:spPr>
        <p:txBody>
          <a:bodyPr wrap="square">
            <a:spAutoFit/>
          </a:bodyPr>
          <a:lstStyle/>
          <a:p>
            <a:pPr algn="l"/>
            <a:r>
              <a:rPr sz="950" b="0" i="0">
                <a:solidFill>
                  <a:srgbClr val="1F1F1F"/>
                </a:solidFill>
              </a:rPr>
              <a:t>•  Generates valid HDI DDL for the correct artifact type</a:t>
            </a:r>
          </a:p>
        </p:txBody>
      </p:sp>
      <p:sp>
        <p:nvSpPr>
          <p:cNvPr id="23" name="TextBox 22"/>
          <p:cNvSpPr txBox="1"/>
          <p:nvPr/>
        </p:nvSpPr>
        <p:spPr>
          <a:xfrm>
            <a:off x="4206240" y="2843784"/>
            <a:ext cx="3017520" cy="502920"/>
          </a:xfrm>
          <a:prstGeom prst="rect">
            <a:avLst/>
          </a:prstGeom>
          <a:noFill/>
        </p:spPr>
        <p:txBody>
          <a:bodyPr wrap="square">
            <a:spAutoFit/>
          </a:bodyPr>
          <a:lstStyle/>
          <a:p>
            <a:pPr algn="l"/>
            <a:r>
              <a:rPr sz="950" b="0" i="0">
                <a:solidFill>
                  <a:srgbClr val="1F1F1F"/>
                </a:solidFill>
              </a:rPr>
              <a:t>•  Writes .hdiconfig with the right plugin automatically</a:t>
            </a:r>
          </a:p>
        </p:txBody>
      </p:sp>
      <p:sp>
        <p:nvSpPr>
          <p:cNvPr id="24" name="TextBox 23"/>
          <p:cNvSpPr txBox="1"/>
          <p:nvPr/>
        </p:nvSpPr>
        <p:spPr>
          <a:xfrm>
            <a:off x="4206240" y="3410712"/>
            <a:ext cx="3017520" cy="502920"/>
          </a:xfrm>
          <a:prstGeom prst="rect">
            <a:avLst/>
          </a:prstGeom>
          <a:noFill/>
        </p:spPr>
        <p:txBody>
          <a:bodyPr wrap="square">
            <a:spAutoFit/>
          </a:bodyPr>
          <a:lstStyle/>
          <a:p>
            <a:pPr algn="l"/>
            <a:r>
              <a:rPr sz="950" b="0" i="0">
                <a:solidFill>
                  <a:srgbClr val="1F1F1F"/>
                </a:solidFill>
              </a:rPr>
              <a:t>•  Calls DI API: WRITE → MAKE → GRANT in sequence</a:t>
            </a:r>
          </a:p>
        </p:txBody>
      </p:sp>
      <p:sp>
        <p:nvSpPr>
          <p:cNvPr id="25" name="TextBox 24"/>
          <p:cNvSpPr txBox="1"/>
          <p:nvPr/>
        </p:nvSpPr>
        <p:spPr>
          <a:xfrm>
            <a:off x="4023360" y="3991356"/>
            <a:ext cx="3017520" cy="502920"/>
          </a:xfrm>
          <a:prstGeom prst="rect">
            <a:avLst/>
          </a:prstGeom>
          <a:noFill/>
        </p:spPr>
        <p:txBody>
          <a:bodyPr wrap="square">
            <a:spAutoFit/>
          </a:bodyPr>
          <a:lstStyle/>
          <a:p>
            <a:pPr algn="l"/>
            <a:r>
              <a:rPr sz="950" b="0" i="0">
                <a:solidFill>
                  <a:srgbClr val="1F1F1F"/>
                </a:solidFill>
              </a:rPr>
              <a:t>•  Queries M_MESSAGES to detect and log any errors</a:t>
            </a:r>
          </a:p>
        </p:txBody>
      </p:sp>
      <p:sp>
        <p:nvSpPr>
          <p:cNvPr id="26" name="TextBox 25"/>
          <p:cNvSpPr txBox="1"/>
          <p:nvPr/>
        </p:nvSpPr>
        <p:spPr>
          <a:xfrm>
            <a:off x="7406640" y="2148840"/>
            <a:ext cx="274320" cy="457200"/>
          </a:xfrm>
          <a:prstGeom prst="rect">
            <a:avLst/>
          </a:prstGeom>
          <a:noFill/>
        </p:spPr>
        <p:txBody>
          <a:bodyPr wrap="square">
            <a:spAutoFit/>
          </a:bodyPr>
          <a:lstStyle/>
          <a:p>
            <a:pPr algn="ctr"/>
            <a:r>
              <a:rPr sz="2200" b="0" i="0">
                <a:solidFill>
                  <a:srgbClr val="444444"/>
                </a:solidFill>
              </a:rPr>
              <a:t>→</a:t>
            </a:r>
          </a:p>
        </p:txBody>
      </p:sp>
      <p:sp>
        <p:nvSpPr>
          <p:cNvPr id="27" name="Rectangle 26"/>
          <p:cNvSpPr/>
          <p:nvPr/>
        </p:nvSpPr>
        <p:spPr>
          <a:xfrm>
            <a:off x="7726680" y="1143000"/>
            <a:ext cx="3291840" cy="4572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18120" y="1188720"/>
            <a:ext cx="3108960" cy="384048"/>
          </a:xfrm>
          <a:prstGeom prst="rect">
            <a:avLst/>
          </a:prstGeom>
          <a:noFill/>
        </p:spPr>
        <p:txBody>
          <a:bodyPr wrap="square">
            <a:spAutoFit/>
          </a:bodyPr>
          <a:lstStyle/>
          <a:p>
            <a:pPr algn="l"/>
            <a:r>
              <a:rPr sz="1100" b="1" i="0">
                <a:solidFill>
                  <a:srgbClr val="FFFFFF"/>
                </a:solidFill>
              </a:rPr>
              <a:t>⚙️  ③ HANA Cloud Result</a:t>
            </a:r>
          </a:p>
        </p:txBody>
      </p:sp>
      <p:sp>
        <p:nvSpPr>
          <p:cNvPr id="29" name="Rectangle 28"/>
          <p:cNvSpPr/>
          <p:nvPr/>
        </p:nvSpPr>
        <p:spPr>
          <a:xfrm>
            <a:off x="7726680" y="1600200"/>
            <a:ext cx="3291840" cy="4114800"/>
          </a:xfrm>
          <a:prstGeom prst="rect">
            <a:avLst/>
          </a:prstGeom>
          <a:solidFill>
            <a:srgbClr val="D1FAE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63840" y="1709928"/>
            <a:ext cx="3017520" cy="502920"/>
          </a:xfrm>
          <a:prstGeom prst="rect">
            <a:avLst/>
          </a:prstGeom>
          <a:noFill/>
        </p:spPr>
        <p:txBody>
          <a:bodyPr wrap="square">
            <a:spAutoFit/>
          </a:bodyPr>
          <a:lstStyle/>
          <a:p>
            <a:pPr algn="l"/>
            <a:r>
              <a:rPr sz="950" b="0" i="0">
                <a:solidFill>
                  <a:srgbClr val="1F1F1F"/>
                </a:solidFill>
              </a:rPr>
              <a:t>•  Artifact deployed to HDI container successfully</a:t>
            </a:r>
          </a:p>
        </p:txBody>
      </p:sp>
      <p:sp>
        <p:nvSpPr>
          <p:cNvPr id="31" name="TextBox 30"/>
          <p:cNvSpPr txBox="1"/>
          <p:nvPr/>
        </p:nvSpPr>
        <p:spPr>
          <a:xfrm>
            <a:off x="7863840" y="2276856"/>
            <a:ext cx="3017520" cy="502920"/>
          </a:xfrm>
          <a:prstGeom prst="rect">
            <a:avLst/>
          </a:prstGeom>
          <a:noFill/>
        </p:spPr>
        <p:txBody>
          <a:bodyPr wrap="square">
            <a:spAutoFit/>
          </a:bodyPr>
          <a:lstStyle/>
          <a:p>
            <a:pPr algn="l"/>
            <a:r>
              <a:rPr sz="950" b="0" i="0">
                <a:solidFill>
                  <a:srgbClr val="1F1F1F"/>
                </a:solidFill>
              </a:rPr>
              <a:t>•  Schema privileges granted automatically</a:t>
            </a:r>
          </a:p>
        </p:txBody>
      </p:sp>
      <p:sp>
        <p:nvSpPr>
          <p:cNvPr id="32" name="TextBox 31"/>
          <p:cNvSpPr txBox="1"/>
          <p:nvPr/>
        </p:nvSpPr>
        <p:spPr>
          <a:xfrm>
            <a:off x="7863840" y="2843784"/>
            <a:ext cx="3017520" cy="502920"/>
          </a:xfrm>
          <a:prstGeom prst="rect">
            <a:avLst/>
          </a:prstGeom>
          <a:noFill/>
        </p:spPr>
        <p:txBody>
          <a:bodyPr wrap="square">
            <a:spAutoFit/>
          </a:bodyPr>
          <a:lstStyle/>
          <a:p>
            <a:pPr algn="l"/>
            <a:r>
              <a:rPr sz="950" b="0" i="0">
                <a:solidFill>
                  <a:srgbClr val="1F1F1F"/>
                </a:solidFill>
              </a:rPr>
              <a:t>•  Artifact immediately visible in DBX / BAS</a:t>
            </a:r>
          </a:p>
        </p:txBody>
      </p:sp>
      <p:sp>
        <p:nvSpPr>
          <p:cNvPr id="33" name="TextBox 32"/>
          <p:cNvSpPr txBox="1"/>
          <p:nvPr/>
        </p:nvSpPr>
        <p:spPr>
          <a:xfrm>
            <a:off x="7863840" y="3410712"/>
            <a:ext cx="3017520" cy="502920"/>
          </a:xfrm>
          <a:prstGeom prst="rect">
            <a:avLst/>
          </a:prstGeom>
          <a:noFill/>
        </p:spPr>
        <p:txBody>
          <a:bodyPr wrap="square">
            <a:spAutoFit/>
          </a:bodyPr>
          <a:lstStyle/>
          <a:p>
            <a:pPr algn="l"/>
            <a:r>
              <a:rPr sz="950" b="0" i="0">
                <a:solidFill>
                  <a:srgbClr val="1F1F1F"/>
                </a:solidFill>
              </a:rPr>
              <a:t>•  Full audit log written to session file</a:t>
            </a:r>
          </a:p>
        </p:txBody>
      </p:sp>
      <p:sp>
        <p:nvSpPr>
          <p:cNvPr id="34" name="TextBox 33"/>
          <p:cNvSpPr txBox="1"/>
          <p:nvPr/>
        </p:nvSpPr>
        <p:spPr>
          <a:xfrm>
            <a:off x="7863840" y="3977640"/>
            <a:ext cx="3017520" cy="502920"/>
          </a:xfrm>
          <a:prstGeom prst="rect">
            <a:avLst/>
          </a:prstGeom>
          <a:noFill/>
        </p:spPr>
        <p:txBody>
          <a:bodyPr wrap="square">
            <a:spAutoFit/>
          </a:bodyPr>
          <a:lstStyle/>
          <a:p>
            <a:pPr algn="l"/>
            <a:r>
              <a:rPr sz="950" b="0" i="0">
                <a:solidFill>
                  <a:srgbClr val="1F1F1F"/>
                </a:solidFill>
              </a:rPr>
              <a:t>•  Total time: under 30 seconds</a:t>
            </a:r>
          </a:p>
        </p:txBody>
      </p:sp>
      <p:sp>
        <p:nvSpPr>
          <p:cNvPr id="35" name="Rectangle 34"/>
          <p:cNvSpPr/>
          <p:nvPr/>
        </p:nvSpPr>
        <p:spPr>
          <a:xfrm>
            <a:off x="0" y="5577840"/>
            <a:ext cx="12188952" cy="9601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 y="5650992"/>
            <a:ext cx="2864358" cy="384048"/>
          </a:xfrm>
          <a:prstGeom prst="rect">
            <a:avLst/>
          </a:prstGeom>
          <a:noFill/>
        </p:spPr>
        <p:txBody>
          <a:bodyPr wrap="square">
            <a:spAutoFit/>
          </a:bodyPr>
          <a:lstStyle/>
          <a:p>
            <a:pPr algn="ctr"/>
            <a:r>
              <a:rPr sz="1300" b="1" i="0">
                <a:solidFill>
                  <a:srgbClr val="FFFFFF"/>
                </a:solidFill>
              </a:rPr>
              <a:t>⏱  &lt; 30 seconds</a:t>
            </a:r>
          </a:p>
        </p:txBody>
      </p:sp>
      <p:sp>
        <p:nvSpPr>
          <p:cNvPr id="37" name="TextBox 36"/>
          <p:cNvSpPr txBox="1"/>
          <p:nvPr/>
        </p:nvSpPr>
        <p:spPr>
          <a:xfrm>
            <a:off x="91440" y="6080760"/>
            <a:ext cx="2864358" cy="274320"/>
          </a:xfrm>
          <a:prstGeom prst="rect">
            <a:avLst/>
          </a:prstGeom>
          <a:noFill/>
        </p:spPr>
        <p:txBody>
          <a:bodyPr wrap="square">
            <a:spAutoFit/>
          </a:bodyPr>
          <a:lstStyle/>
          <a:p>
            <a:pPr algn="ctr"/>
            <a:r>
              <a:rPr sz="900" b="0" i="0">
                <a:solidFill>
                  <a:srgbClr val="B8D9F8"/>
                </a:solidFill>
              </a:rPr>
              <a:t>per artifact</a:t>
            </a:r>
          </a:p>
        </p:txBody>
      </p:sp>
      <p:sp>
        <p:nvSpPr>
          <p:cNvPr id="38" name="TextBox 37"/>
          <p:cNvSpPr txBox="1"/>
          <p:nvPr/>
        </p:nvSpPr>
        <p:spPr>
          <a:xfrm>
            <a:off x="3138678" y="5650992"/>
            <a:ext cx="2864358" cy="384048"/>
          </a:xfrm>
          <a:prstGeom prst="rect">
            <a:avLst/>
          </a:prstGeom>
          <a:noFill/>
        </p:spPr>
        <p:txBody>
          <a:bodyPr wrap="square">
            <a:spAutoFit/>
          </a:bodyPr>
          <a:lstStyle/>
          <a:p>
            <a:pPr algn="ctr"/>
            <a:r>
              <a:rPr sz="1300" b="1" i="0">
                <a:solidFill>
                  <a:srgbClr val="FFFFFF"/>
                </a:solidFill>
              </a:rPr>
              <a:t>📦  30+ artifact types</a:t>
            </a:r>
          </a:p>
        </p:txBody>
      </p:sp>
      <p:sp>
        <p:nvSpPr>
          <p:cNvPr id="39" name="TextBox 38"/>
          <p:cNvSpPr txBox="1"/>
          <p:nvPr/>
        </p:nvSpPr>
        <p:spPr>
          <a:xfrm>
            <a:off x="3138678" y="6080760"/>
            <a:ext cx="2864358" cy="274320"/>
          </a:xfrm>
          <a:prstGeom prst="rect">
            <a:avLst/>
          </a:prstGeom>
          <a:noFill/>
        </p:spPr>
        <p:txBody>
          <a:bodyPr wrap="square">
            <a:spAutoFit/>
          </a:bodyPr>
          <a:lstStyle/>
          <a:p>
            <a:pPr algn="ctr"/>
            <a:r>
              <a:rPr sz="900" b="0" i="0">
                <a:solidFill>
                  <a:srgbClr val="B8D9F8"/>
                </a:solidFill>
              </a:rPr>
              <a:t>fully supported</a:t>
            </a:r>
          </a:p>
        </p:txBody>
      </p:sp>
      <p:sp>
        <p:nvSpPr>
          <p:cNvPr id="40" name="TextBox 39"/>
          <p:cNvSpPr txBox="1"/>
          <p:nvPr/>
        </p:nvSpPr>
        <p:spPr>
          <a:xfrm>
            <a:off x="6185916" y="5650992"/>
            <a:ext cx="2864358" cy="384048"/>
          </a:xfrm>
          <a:prstGeom prst="rect">
            <a:avLst/>
          </a:prstGeom>
          <a:noFill/>
        </p:spPr>
        <p:txBody>
          <a:bodyPr wrap="square">
            <a:spAutoFit/>
          </a:bodyPr>
          <a:lstStyle/>
          <a:p>
            <a:pPr algn="ctr"/>
            <a:r>
              <a:rPr sz="1300" b="1" i="0">
                <a:solidFill>
                  <a:srgbClr val="FFFFFF"/>
                </a:solidFill>
              </a:rPr>
              <a:t>🔐  Zero manual grants</a:t>
            </a:r>
          </a:p>
        </p:txBody>
      </p:sp>
      <p:sp>
        <p:nvSpPr>
          <p:cNvPr id="41" name="TextBox 40"/>
          <p:cNvSpPr txBox="1"/>
          <p:nvPr/>
        </p:nvSpPr>
        <p:spPr>
          <a:xfrm>
            <a:off x="6185916" y="6080760"/>
            <a:ext cx="2864358" cy="274320"/>
          </a:xfrm>
          <a:prstGeom prst="rect">
            <a:avLst/>
          </a:prstGeom>
          <a:noFill/>
        </p:spPr>
        <p:txBody>
          <a:bodyPr wrap="square">
            <a:spAutoFit/>
          </a:bodyPr>
          <a:lstStyle/>
          <a:p>
            <a:pPr algn="ctr"/>
            <a:r>
              <a:rPr sz="900" b="0" i="0">
                <a:solidFill>
                  <a:srgbClr val="B8D9F8"/>
                </a:solidFill>
              </a:rPr>
              <a:t>needed</a:t>
            </a:r>
          </a:p>
        </p:txBody>
      </p:sp>
      <p:sp>
        <p:nvSpPr>
          <p:cNvPr id="42" name="TextBox 41"/>
          <p:cNvSpPr txBox="1"/>
          <p:nvPr/>
        </p:nvSpPr>
        <p:spPr>
          <a:xfrm>
            <a:off x="9233154" y="5650992"/>
            <a:ext cx="2864358" cy="384048"/>
          </a:xfrm>
          <a:prstGeom prst="rect">
            <a:avLst/>
          </a:prstGeom>
          <a:noFill/>
        </p:spPr>
        <p:txBody>
          <a:bodyPr wrap="square">
            <a:spAutoFit/>
          </a:bodyPr>
          <a:lstStyle/>
          <a:p>
            <a:pPr algn="ctr"/>
            <a:r>
              <a:rPr sz="1300" b="1" i="0">
                <a:solidFill>
                  <a:srgbClr val="FFFFFF"/>
                </a:solidFill>
              </a:rPr>
              <a:t>🚫  No syntax knowledge</a:t>
            </a:r>
          </a:p>
        </p:txBody>
      </p:sp>
      <p:sp>
        <p:nvSpPr>
          <p:cNvPr id="43" name="TextBox 42"/>
          <p:cNvSpPr txBox="1"/>
          <p:nvPr/>
        </p:nvSpPr>
        <p:spPr>
          <a:xfrm>
            <a:off x="9233154" y="6080760"/>
            <a:ext cx="2864358" cy="274320"/>
          </a:xfrm>
          <a:prstGeom prst="rect">
            <a:avLst/>
          </a:prstGeom>
          <a:noFill/>
        </p:spPr>
        <p:txBody>
          <a:bodyPr wrap="square">
            <a:spAutoFit/>
          </a:bodyPr>
          <a:lstStyle/>
          <a:p>
            <a:pPr algn="ctr"/>
            <a:r>
              <a:rPr sz="900" b="0" i="0">
                <a:solidFill>
                  <a:srgbClr val="B8D9F8"/>
                </a:solidFill>
              </a:rPr>
              <a:t>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34</TotalTime>
  <Words>687</Words>
  <Application>Microsoft Macintosh PowerPoint</Application>
  <PresentationFormat>Custom</PresentationFormat>
  <Paragraphs>77</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Sah, Aakriti</cp:lastModifiedBy>
  <cp:revision>2</cp:revision>
  <dcterms:created xsi:type="dcterms:W3CDTF">2013-01-27T09:14:16Z</dcterms:created>
  <dcterms:modified xsi:type="dcterms:W3CDTF">2026-06-19T19:21:35Z</dcterms:modified>
  <cp:category/>
</cp:coreProperties>
</file>