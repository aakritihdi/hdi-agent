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3087"/>
                </a:solidFill>
              </a:rPr>
              <a:t>HDI-Agent — High Level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11247120" cy="254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74236" y="5870448"/>
            <a:ext cx="3840480" cy="475488"/>
          </a:xfrm>
          <a:prstGeom prst="rect">
            <a:avLst/>
          </a:prstGeom>
          <a:solidFill>
            <a:srgbClr val="FFFFFF"/>
          </a:solidFill>
          <a:ln w="228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65676" y="594360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👤  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5884" y="5907024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Type a request in chat UI  ·  e.g. "Create SALES_ORDER"
No HDI syntax needed  ·  No BAS setup required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4236" y="5212080"/>
            <a:ext cx="3840480" cy="475488"/>
          </a:xfrm>
          <a:prstGeom prst="rect">
            <a:avLst/>
          </a:prstGeom>
          <a:solidFill>
            <a:srgbClr val="FFFFFF"/>
          </a:solidFill>
          <a:ln w="228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5676" y="528523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🤖  GPT-4o  (Amazon Bedrock / OpenAI)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4508" y="4553712"/>
            <a:ext cx="4059936" cy="493776"/>
          </a:xfrm>
          <a:prstGeom prst="rect">
            <a:avLst/>
          </a:prstGeom>
          <a:solidFill>
            <a:srgbClr val="E8F2FF"/>
          </a:solidFill>
          <a:ln w="317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55948" y="4626864"/>
            <a:ext cx="387705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087"/>
                </a:solidFill>
              </a:rPr>
              <a:t>⚙️  HDI-Agent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5884" y="459028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Reads GPT-4o response + artifact docs  ·  Generates valid HDI DDL
Writes .hdiconfig  ·  Calls DI API: WRITE → MAKE → GRANT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4236" y="3895344"/>
            <a:ext cx="3840480" cy="475488"/>
          </a:xfrm>
          <a:prstGeom prst="rect">
            <a:avLst/>
          </a:prstGeom>
          <a:solidFill>
            <a:srgbClr val="FFFFFF"/>
          </a:solidFill>
          <a:ln w="228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5676" y="3968496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🔌  HDI DI API  —  WRITE → MAKE → GRANT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4508" y="3236976"/>
            <a:ext cx="4059936" cy="493776"/>
          </a:xfrm>
          <a:prstGeom prst="rect">
            <a:avLst/>
          </a:prstGeom>
          <a:solidFill>
            <a:srgbClr val="E8F2FF"/>
          </a:solidFill>
          <a:ln w="317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5948" y="3310128"/>
            <a:ext cx="387705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087"/>
                </a:solidFill>
              </a:rPr>
              <a:t>🗄️  SAP HANA Cloud  —  HDI 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5884" y="327355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Artifact deployed  ·  Schema privileges granted automatically
Artifact immediately visible in DBX / BAS</a:t>
            </a:r>
          </a:p>
        </p:txBody>
      </p:sp>
      <p:cxnSp>
        <p:nvCxnSpPr>
          <p:cNvPr id="9999" name="Arrow"/>
          <p:cNvCxnSpPr/>
          <p:nvPr/>
        </p:nvCxnSpPr>
        <p:spPr>
          <a:xfrm>
            <a:off x="6094476" y="5687568"/>
            <a:ext cx="100" cy="182880"/>
          </a:xfrm>
          <a:prstGeom prst="line">
            <a:avLst/>
          </a:prstGeom>
          <a:ln w="22860">
            <a:solidFill>
              <a:srgbClr val="444444"/>
            </a:solidFill>
            <a:headEnd type="none"/>
            <a:tailEnd type="triangle" w="med" len="med"/>
          </a:ln>
        </p:spPr>
      </p:cxnSp>
      <p:cxnSp>
        <p:nvCxnSpPr>
          <p:cNvPr id="9999" name="Arrow"/>
          <p:cNvCxnSpPr/>
          <p:nvPr/>
        </p:nvCxnSpPr>
        <p:spPr>
          <a:xfrm>
            <a:off x="6094476" y="5029200"/>
            <a:ext cx="100" cy="182880"/>
          </a:xfrm>
          <a:prstGeom prst="line">
            <a:avLst/>
          </a:prstGeom>
          <a:ln w="22860">
            <a:solidFill>
              <a:srgbClr val="444444"/>
            </a:solidFill>
            <a:headEnd type="none"/>
            <a:tailEnd type="triangle" w="med" len="med"/>
          </a:ln>
        </p:spPr>
      </p:cxnSp>
      <p:cxnSp>
        <p:nvCxnSpPr>
          <p:cNvPr id="9999" name="Arrow"/>
          <p:cNvCxnSpPr/>
          <p:nvPr/>
        </p:nvCxnSpPr>
        <p:spPr>
          <a:xfrm>
            <a:off x="6094476" y="4370832"/>
            <a:ext cx="100" cy="182880"/>
          </a:xfrm>
          <a:prstGeom prst="line">
            <a:avLst/>
          </a:prstGeom>
          <a:ln w="22860">
            <a:solidFill>
              <a:srgbClr val="444444"/>
            </a:solidFill>
            <a:headEnd type="none"/>
            <a:tailEnd type="triangle" w="med" len="med"/>
          </a:ln>
        </p:spPr>
      </p:cxnSp>
      <p:cxnSp>
        <p:nvCxnSpPr>
          <p:cNvPr id="9999" name="Arrow"/>
          <p:cNvCxnSpPr/>
          <p:nvPr/>
        </p:nvCxnSpPr>
        <p:spPr>
          <a:xfrm>
            <a:off x="6094476" y="3712464"/>
            <a:ext cx="100" cy="182880"/>
          </a:xfrm>
          <a:prstGeom prst="line">
            <a:avLst/>
          </a:prstGeom>
          <a:ln w="22860">
            <a:solidFill>
              <a:srgbClr val="444444"/>
            </a:solidFill>
            <a:headEnd type="none"/>
            <a:tailEnd type="triangle" w="med" len="med"/>
          </a:ln>
        </p:spPr>
      </p:cxnSp>
      <p:sp>
        <p:nvSpPr>
          <p:cNvPr id="10000" name="Rectangle 9999"/>
          <p:cNvSpPr/>
          <p:nvPr/>
        </p:nvSpPr>
        <p:spPr>
          <a:xfrm>
            <a:off x="320040" y="5961888"/>
            <a:ext cx="2011680" cy="292608"/>
          </a:xfrm>
          <a:prstGeom prst="rect">
            <a:avLst/>
          </a:prstGeom>
          <a:solidFill>
            <a:srgbClr val="F4F8FF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" name="TextBox 10000"/>
          <p:cNvSpPr txBox="1"/>
          <p:nvPr/>
        </p:nvSpPr>
        <p:spPr>
          <a:xfrm>
            <a:off x="374904" y="5961888"/>
            <a:ext cx="1901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57B8"/>
                </a:solidFill>
              </a:rPr>
              <a:t>User Layer</a:t>
            </a:r>
          </a:p>
        </p:txBody>
      </p:sp>
      <p:sp>
        <p:nvSpPr>
          <p:cNvPr id="10002" name="Rectangle 10001"/>
          <p:cNvSpPr/>
          <p:nvPr/>
        </p:nvSpPr>
        <p:spPr>
          <a:xfrm>
            <a:off x="320040" y="5303520"/>
            <a:ext cx="2011680" cy="292608"/>
          </a:xfrm>
          <a:prstGeom prst="rect">
            <a:avLst/>
          </a:prstGeom>
          <a:solidFill>
            <a:srgbClr val="F4F8FF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3" name="TextBox 10002"/>
          <p:cNvSpPr txBox="1"/>
          <p:nvPr/>
        </p:nvSpPr>
        <p:spPr>
          <a:xfrm>
            <a:off x="374904" y="5303520"/>
            <a:ext cx="1901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57B8"/>
                </a:solidFill>
              </a:rPr>
              <a:t>AI Layer</a:t>
            </a:r>
          </a:p>
        </p:txBody>
      </p:sp>
      <p:sp>
        <p:nvSpPr>
          <p:cNvPr id="10004" name="Rectangle 10003"/>
          <p:cNvSpPr/>
          <p:nvPr/>
        </p:nvSpPr>
        <p:spPr>
          <a:xfrm>
            <a:off x="320040" y="4645152"/>
            <a:ext cx="2011680" cy="292608"/>
          </a:xfrm>
          <a:prstGeom prst="rect">
            <a:avLst/>
          </a:prstGeom>
          <a:solidFill>
            <a:srgbClr val="F4F8FF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" name="TextBox 10004"/>
          <p:cNvSpPr txBox="1"/>
          <p:nvPr/>
        </p:nvSpPr>
        <p:spPr>
          <a:xfrm>
            <a:off x="374904" y="4645152"/>
            <a:ext cx="1901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57B8"/>
                </a:solidFill>
              </a:rPr>
              <a:t>Agent Layer</a:t>
            </a:r>
          </a:p>
        </p:txBody>
      </p:sp>
      <p:sp>
        <p:nvSpPr>
          <p:cNvPr id="10006" name="Rectangle 10005"/>
          <p:cNvSpPr/>
          <p:nvPr/>
        </p:nvSpPr>
        <p:spPr>
          <a:xfrm>
            <a:off x="320040" y="3986784"/>
            <a:ext cx="2011680" cy="292608"/>
          </a:xfrm>
          <a:prstGeom prst="rect">
            <a:avLst/>
          </a:prstGeom>
          <a:solidFill>
            <a:srgbClr val="F4F8FF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7" name="TextBox 10006"/>
          <p:cNvSpPr txBox="1"/>
          <p:nvPr/>
        </p:nvSpPr>
        <p:spPr>
          <a:xfrm>
            <a:off x="374904" y="3986784"/>
            <a:ext cx="1901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57B8"/>
                </a:solidFill>
              </a:rPr>
              <a:t>API Layer</a:t>
            </a:r>
          </a:p>
        </p:txBody>
      </p:sp>
      <p:sp>
        <p:nvSpPr>
          <p:cNvPr id="10008" name="Rectangle 10007"/>
          <p:cNvSpPr/>
          <p:nvPr/>
        </p:nvSpPr>
        <p:spPr>
          <a:xfrm>
            <a:off x="320040" y="3328416"/>
            <a:ext cx="2011680" cy="292608"/>
          </a:xfrm>
          <a:prstGeom prst="rect">
            <a:avLst/>
          </a:prstGeom>
          <a:solidFill>
            <a:srgbClr val="F4F8FF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" name="TextBox 10008"/>
          <p:cNvSpPr txBox="1"/>
          <p:nvPr/>
        </p:nvSpPr>
        <p:spPr>
          <a:xfrm>
            <a:off x="374904" y="3328416"/>
            <a:ext cx="1901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57B8"/>
                </a:solidFill>
              </a:rPr>
              <a:t>HANA Layer</a:t>
            </a:r>
          </a:p>
        </p:txBody>
      </p:sp>
      <p:sp>
        <p:nvSpPr>
          <p:cNvPr id="10010" name="TextBox 10009"/>
          <p:cNvSpPr txBox="1"/>
          <p:nvPr/>
        </p:nvSpPr>
        <p:spPr>
          <a:xfrm>
            <a:off x="457200" y="6601968"/>
            <a:ext cx="11274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BBBBB"/>
                </a:solidFill>
              </a:rPr>
              <a:t>HDI-Agent  ·  SAP HANA Cloud  ·  Architecture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