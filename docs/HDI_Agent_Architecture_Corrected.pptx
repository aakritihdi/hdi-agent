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000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36472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3944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1416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8888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26360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73832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21304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68776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6248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63720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811192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58664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06136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53608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01080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48552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96024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43496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90968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38440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85912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633384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80856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28328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75800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23272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370744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718216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65688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13160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760632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108104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55576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03048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2150520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497992" y="-1100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-11000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36472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944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31416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378888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726360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073832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421304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768776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116248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63720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811192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158664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506136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853608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201080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548552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896024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243496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590968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938440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285912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633384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0856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8328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75800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023272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370744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718216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065688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413160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760632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1108104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455576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803048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2150520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2497992" y="33647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-11000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6472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83944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31416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378888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726360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073832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421304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768776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116248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463720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11192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158664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506136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853608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201080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548552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896024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243496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590968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938440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285912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633384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980856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328328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8675800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9023272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9370744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9718216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0065688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0413160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0760632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108104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455576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803048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2150520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2497992" y="68394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-11000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336472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683944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031416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378888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726360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073832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2421304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2768776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3116248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463720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811192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158664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506136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4853608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201080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548552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96024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6243496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6590968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6938440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7285912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7633384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7980856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8328328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8675800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023272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370744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9718216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0065688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413160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0760632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1108104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1455576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1803048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2150520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2497992" y="103141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-11000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336472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3944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31416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378888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726360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2073832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2421304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2768776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3116248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3463720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3811192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4158664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4506136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4853608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5201080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5548552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5896024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6243496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6590968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6938440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285912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633384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980856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8328328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8675800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9023272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9370744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9718216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0065688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413160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0760632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108104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1455576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1803048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2150520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2497992" y="137888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-11000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336472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683944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031416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378888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726360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2073832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2421304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2768776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3116248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3463720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3811192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4158664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4506136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4853608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5201080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5548552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5896024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6243496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6590968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6938440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7285912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7633384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7980856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8328328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8675800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023272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370744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718216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0065688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0413160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0760632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1108104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1455576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1803048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2150520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2497992" y="172636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-11000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336472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683944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1416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378888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726360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2073832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2421304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2768776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116248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3463720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3811192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158664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4506136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4853608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5201080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5548552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5896024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6243496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6590968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6938440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7285912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7633384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7980856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8328328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8675800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9023272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9370744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9718216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0065688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0413160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0760632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108104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455576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03048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2150520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2497992" y="207383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-11000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336472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683944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031416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378888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726360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2073832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2421304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2768776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3116248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3463720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3811192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4158664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4506136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4853608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5201080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5548552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5896024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6243496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6590968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6938440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7285912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7633384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7980856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8328328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8675800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9023272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9370744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9718216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0065688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0413160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0760632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1108104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11455576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11803048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12150520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12497992" y="242130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-11000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336472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683944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1031416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1378888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1726360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2073832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2421304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2768776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3116248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3463720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3811192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4158664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4506136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4853608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5201080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5548552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5896024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6243496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6590968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6938440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7285912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7633384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7980856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8328328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8675800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9023272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9370744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9718216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10065688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10413160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10760632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11108104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11455576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11803048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12150520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2497992" y="276877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-11000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336472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683944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1031416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1378888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1726360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2073832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421304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768776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3116248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3463720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3811192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4158664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506136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4853608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5201080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5548552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5896024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6243496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6590968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6938440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7285912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7633384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7980856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8328328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8675800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9023272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9370744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9718216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0065688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10413160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0760632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11108104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11455576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11803048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12150520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12497992" y="311624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-11000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336472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683944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1031416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1378888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1726360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2073832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2421304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2768776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3116248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3463720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3811192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4158664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4506136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4853608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5201080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5548552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5896024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6243496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6590968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6938440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7285912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7633384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7980856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8328328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8675800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9023272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9370744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9718216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10065688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10413160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10760632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11108104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11455576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11803048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12150520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12497992" y="346372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-11000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336472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683944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1031416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1378888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1726360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2073832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2421304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2768776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3116248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3463720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3811192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4158664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4506136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4853608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5201080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5548552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5896024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6243496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6590968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6938440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7285912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7633384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7980856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8328328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8675800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9023272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9370744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9718216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10065688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10413160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10760632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11108104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11455576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11803048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12150520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12497992" y="381119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-11000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336472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683944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1031416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1378888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1726360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2073832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2421304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2768776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3116248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3463720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3811192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4158664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4506136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4853608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5201080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5548552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5896024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6243496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6590968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6938440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7285912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7633384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7980856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8328328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8675800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9023272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9370744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9718216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10065688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10413160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10760632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11108104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11455576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11803048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12150520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12497992" y="415866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Oval 483"/>
          <p:cNvSpPr/>
          <p:nvPr/>
        </p:nvSpPr>
        <p:spPr>
          <a:xfrm>
            <a:off x="-11000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Oval 484"/>
          <p:cNvSpPr/>
          <p:nvPr/>
        </p:nvSpPr>
        <p:spPr>
          <a:xfrm>
            <a:off x="336472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683944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Oval 486"/>
          <p:cNvSpPr/>
          <p:nvPr/>
        </p:nvSpPr>
        <p:spPr>
          <a:xfrm>
            <a:off x="1031416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Oval 487"/>
          <p:cNvSpPr/>
          <p:nvPr/>
        </p:nvSpPr>
        <p:spPr>
          <a:xfrm>
            <a:off x="1378888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xfrm>
            <a:off x="1726360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2073832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2421304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2768776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3116248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3463720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3811192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4158664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4506136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4853608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5201080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5548552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5896024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Oval 501"/>
          <p:cNvSpPr/>
          <p:nvPr/>
        </p:nvSpPr>
        <p:spPr>
          <a:xfrm>
            <a:off x="6243496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6590968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xfrm>
            <a:off x="6938440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Oval 504"/>
          <p:cNvSpPr/>
          <p:nvPr/>
        </p:nvSpPr>
        <p:spPr>
          <a:xfrm>
            <a:off x="7285912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xfrm>
            <a:off x="7633384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7980856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Oval 507"/>
          <p:cNvSpPr/>
          <p:nvPr/>
        </p:nvSpPr>
        <p:spPr>
          <a:xfrm>
            <a:off x="8328328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xfrm>
            <a:off x="8675800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9023272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Oval 510"/>
          <p:cNvSpPr/>
          <p:nvPr/>
        </p:nvSpPr>
        <p:spPr>
          <a:xfrm>
            <a:off x="9370744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Oval 511"/>
          <p:cNvSpPr/>
          <p:nvPr/>
        </p:nvSpPr>
        <p:spPr>
          <a:xfrm>
            <a:off x="9718216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10065688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10413160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Oval 514"/>
          <p:cNvSpPr/>
          <p:nvPr/>
        </p:nvSpPr>
        <p:spPr>
          <a:xfrm>
            <a:off x="10760632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11108104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xfrm>
            <a:off x="11455576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Oval 517"/>
          <p:cNvSpPr/>
          <p:nvPr/>
        </p:nvSpPr>
        <p:spPr>
          <a:xfrm>
            <a:off x="11803048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Oval 518"/>
          <p:cNvSpPr/>
          <p:nvPr/>
        </p:nvSpPr>
        <p:spPr>
          <a:xfrm>
            <a:off x="12150520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Oval 519"/>
          <p:cNvSpPr/>
          <p:nvPr/>
        </p:nvSpPr>
        <p:spPr>
          <a:xfrm>
            <a:off x="12497992" y="450613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Oval 520"/>
          <p:cNvSpPr/>
          <p:nvPr/>
        </p:nvSpPr>
        <p:spPr>
          <a:xfrm>
            <a:off x="-11000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Oval 521"/>
          <p:cNvSpPr/>
          <p:nvPr/>
        </p:nvSpPr>
        <p:spPr>
          <a:xfrm>
            <a:off x="336472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Oval 522"/>
          <p:cNvSpPr/>
          <p:nvPr/>
        </p:nvSpPr>
        <p:spPr>
          <a:xfrm>
            <a:off x="683944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Oval 523"/>
          <p:cNvSpPr/>
          <p:nvPr/>
        </p:nvSpPr>
        <p:spPr>
          <a:xfrm>
            <a:off x="1031416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Oval 524"/>
          <p:cNvSpPr/>
          <p:nvPr/>
        </p:nvSpPr>
        <p:spPr>
          <a:xfrm>
            <a:off x="1378888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Oval 525"/>
          <p:cNvSpPr/>
          <p:nvPr/>
        </p:nvSpPr>
        <p:spPr>
          <a:xfrm>
            <a:off x="1726360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Oval 526"/>
          <p:cNvSpPr/>
          <p:nvPr/>
        </p:nvSpPr>
        <p:spPr>
          <a:xfrm>
            <a:off x="2073832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Oval 527"/>
          <p:cNvSpPr/>
          <p:nvPr/>
        </p:nvSpPr>
        <p:spPr>
          <a:xfrm>
            <a:off x="2421304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Oval 528"/>
          <p:cNvSpPr/>
          <p:nvPr/>
        </p:nvSpPr>
        <p:spPr>
          <a:xfrm>
            <a:off x="2768776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Oval 529"/>
          <p:cNvSpPr/>
          <p:nvPr/>
        </p:nvSpPr>
        <p:spPr>
          <a:xfrm>
            <a:off x="3116248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Oval 530"/>
          <p:cNvSpPr/>
          <p:nvPr/>
        </p:nvSpPr>
        <p:spPr>
          <a:xfrm>
            <a:off x="3463720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Oval 531"/>
          <p:cNvSpPr/>
          <p:nvPr/>
        </p:nvSpPr>
        <p:spPr>
          <a:xfrm>
            <a:off x="3811192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Oval 532"/>
          <p:cNvSpPr/>
          <p:nvPr/>
        </p:nvSpPr>
        <p:spPr>
          <a:xfrm>
            <a:off x="4158664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Oval 533"/>
          <p:cNvSpPr/>
          <p:nvPr/>
        </p:nvSpPr>
        <p:spPr>
          <a:xfrm>
            <a:off x="4506136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Oval 534"/>
          <p:cNvSpPr/>
          <p:nvPr/>
        </p:nvSpPr>
        <p:spPr>
          <a:xfrm>
            <a:off x="4853608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Oval 535"/>
          <p:cNvSpPr/>
          <p:nvPr/>
        </p:nvSpPr>
        <p:spPr>
          <a:xfrm>
            <a:off x="5201080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Oval 536"/>
          <p:cNvSpPr/>
          <p:nvPr/>
        </p:nvSpPr>
        <p:spPr>
          <a:xfrm>
            <a:off x="5548552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Oval 537"/>
          <p:cNvSpPr/>
          <p:nvPr/>
        </p:nvSpPr>
        <p:spPr>
          <a:xfrm>
            <a:off x="5896024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Oval 538"/>
          <p:cNvSpPr/>
          <p:nvPr/>
        </p:nvSpPr>
        <p:spPr>
          <a:xfrm>
            <a:off x="6243496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Oval 539"/>
          <p:cNvSpPr/>
          <p:nvPr/>
        </p:nvSpPr>
        <p:spPr>
          <a:xfrm>
            <a:off x="6590968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Oval 540"/>
          <p:cNvSpPr/>
          <p:nvPr/>
        </p:nvSpPr>
        <p:spPr>
          <a:xfrm>
            <a:off x="6938440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Oval 541"/>
          <p:cNvSpPr/>
          <p:nvPr/>
        </p:nvSpPr>
        <p:spPr>
          <a:xfrm>
            <a:off x="7285912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Oval 542"/>
          <p:cNvSpPr/>
          <p:nvPr/>
        </p:nvSpPr>
        <p:spPr>
          <a:xfrm>
            <a:off x="7633384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Oval 543"/>
          <p:cNvSpPr/>
          <p:nvPr/>
        </p:nvSpPr>
        <p:spPr>
          <a:xfrm>
            <a:off x="7980856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Oval 544"/>
          <p:cNvSpPr/>
          <p:nvPr/>
        </p:nvSpPr>
        <p:spPr>
          <a:xfrm>
            <a:off x="8328328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Oval 545"/>
          <p:cNvSpPr/>
          <p:nvPr/>
        </p:nvSpPr>
        <p:spPr>
          <a:xfrm>
            <a:off x="8675800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Oval 546"/>
          <p:cNvSpPr/>
          <p:nvPr/>
        </p:nvSpPr>
        <p:spPr>
          <a:xfrm>
            <a:off x="9023272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Oval 547"/>
          <p:cNvSpPr/>
          <p:nvPr/>
        </p:nvSpPr>
        <p:spPr>
          <a:xfrm>
            <a:off x="9370744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Oval 548"/>
          <p:cNvSpPr/>
          <p:nvPr/>
        </p:nvSpPr>
        <p:spPr>
          <a:xfrm>
            <a:off x="9718216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Oval 549"/>
          <p:cNvSpPr/>
          <p:nvPr/>
        </p:nvSpPr>
        <p:spPr>
          <a:xfrm>
            <a:off x="10065688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Oval 550"/>
          <p:cNvSpPr/>
          <p:nvPr/>
        </p:nvSpPr>
        <p:spPr>
          <a:xfrm>
            <a:off x="10413160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Oval 551"/>
          <p:cNvSpPr/>
          <p:nvPr/>
        </p:nvSpPr>
        <p:spPr>
          <a:xfrm>
            <a:off x="10760632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Oval 552"/>
          <p:cNvSpPr/>
          <p:nvPr/>
        </p:nvSpPr>
        <p:spPr>
          <a:xfrm>
            <a:off x="11108104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Oval 553"/>
          <p:cNvSpPr/>
          <p:nvPr/>
        </p:nvSpPr>
        <p:spPr>
          <a:xfrm>
            <a:off x="11455576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Oval 554"/>
          <p:cNvSpPr/>
          <p:nvPr/>
        </p:nvSpPr>
        <p:spPr>
          <a:xfrm>
            <a:off x="11803048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Oval 555"/>
          <p:cNvSpPr/>
          <p:nvPr/>
        </p:nvSpPr>
        <p:spPr>
          <a:xfrm>
            <a:off x="12150520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Oval 556"/>
          <p:cNvSpPr/>
          <p:nvPr/>
        </p:nvSpPr>
        <p:spPr>
          <a:xfrm>
            <a:off x="12497992" y="485360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Oval 557"/>
          <p:cNvSpPr/>
          <p:nvPr/>
        </p:nvSpPr>
        <p:spPr>
          <a:xfrm>
            <a:off x="-11000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Oval 558"/>
          <p:cNvSpPr/>
          <p:nvPr/>
        </p:nvSpPr>
        <p:spPr>
          <a:xfrm>
            <a:off x="336472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Oval 559"/>
          <p:cNvSpPr/>
          <p:nvPr/>
        </p:nvSpPr>
        <p:spPr>
          <a:xfrm>
            <a:off x="683944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Oval 560"/>
          <p:cNvSpPr/>
          <p:nvPr/>
        </p:nvSpPr>
        <p:spPr>
          <a:xfrm>
            <a:off x="1031416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Oval 561"/>
          <p:cNvSpPr/>
          <p:nvPr/>
        </p:nvSpPr>
        <p:spPr>
          <a:xfrm>
            <a:off x="1378888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Oval 562"/>
          <p:cNvSpPr/>
          <p:nvPr/>
        </p:nvSpPr>
        <p:spPr>
          <a:xfrm>
            <a:off x="1726360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2073832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Oval 564"/>
          <p:cNvSpPr/>
          <p:nvPr/>
        </p:nvSpPr>
        <p:spPr>
          <a:xfrm>
            <a:off x="2421304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Oval 565"/>
          <p:cNvSpPr/>
          <p:nvPr/>
        </p:nvSpPr>
        <p:spPr>
          <a:xfrm>
            <a:off x="2768776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Oval 566"/>
          <p:cNvSpPr/>
          <p:nvPr/>
        </p:nvSpPr>
        <p:spPr>
          <a:xfrm>
            <a:off x="3116248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Oval 567"/>
          <p:cNvSpPr/>
          <p:nvPr/>
        </p:nvSpPr>
        <p:spPr>
          <a:xfrm>
            <a:off x="3463720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Oval 568"/>
          <p:cNvSpPr/>
          <p:nvPr/>
        </p:nvSpPr>
        <p:spPr>
          <a:xfrm>
            <a:off x="3811192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Oval 569"/>
          <p:cNvSpPr/>
          <p:nvPr/>
        </p:nvSpPr>
        <p:spPr>
          <a:xfrm>
            <a:off x="4158664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Oval 570"/>
          <p:cNvSpPr/>
          <p:nvPr/>
        </p:nvSpPr>
        <p:spPr>
          <a:xfrm>
            <a:off x="4506136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Oval 571"/>
          <p:cNvSpPr/>
          <p:nvPr/>
        </p:nvSpPr>
        <p:spPr>
          <a:xfrm>
            <a:off x="4853608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5201080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Oval 573"/>
          <p:cNvSpPr/>
          <p:nvPr/>
        </p:nvSpPr>
        <p:spPr>
          <a:xfrm>
            <a:off x="5548552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Oval 574"/>
          <p:cNvSpPr/>
          <p:nvPr/>
        </p:nvSpPr>
        <p:spPr>
          <a:xfrm>
            <a:off x="5896024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6243496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Oval 576"/>
          <p:cNvSpPr/>
          <p:nvPr/>
        </p:nvSpPr>
        <p:spPr>
          <a:xfrm>
            <a:off x="6590968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Oval 577"/>
          <p:cNvSpPr/>
          <p:nvPr/>
        </p:nvSpPr>
        <p:spPr>
          <a:xfrm>
            <a:off x="6938440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7285912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Oval 579"/>
          <p:cNvSpPr/>
          <p:nvPr/>
        </p:nvSpPr>
        <p:spPr>
          <a:xfrm>
            <a:off x="7633384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Oval 580"/>
          <p:cNvSpPr/>
          <p:nvPr/>
        </p:nvSpPr>
        <p:spPr>
          <a:xfrm>
            <a:off x="7980856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8328328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Oval 582"/>
          <p:cNvSpPr/>
          <p:nvPr/>
        </p:nvSpPr>
        <p:spPr>
          <a:xfrm>
            <a:off x="8675800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9023272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9370744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9718216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10065688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10413160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10760632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11108104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11455576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11803048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12150520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12497992" y="520108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-11000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336472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683944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1031416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1378888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1726360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2073832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2421304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2768776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3116248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3463720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3811192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4158664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4506136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4853608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5201080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5548552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5896024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6243496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6590968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6938440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Oval 615"/>
          <p:cNvSpPr/>
          <p:nvPr/>
        </p:nvSpPr>
        <p:spPr>
          <a:xfrm>
            <a:off x="7285912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Oval 616"/>
          <p:cNvSpPr/>
          <p:nvPr/>
        </p:nvSpPr>
        <p:spPr>
          <a:xfrm>
            <a:off x="7633384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7980856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8328328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Oval 619"/>
          <p:cNvSpPr/>
          <p:nvPr/>
        </p:nvSpPr>
        <p:spPr>
          <a:xfrm>
            <a:off x="8675800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9023272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9370744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9718216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10065688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10413160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10760632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11108104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11455576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11803048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12150520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12497992" y="5548552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-11000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336472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683944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1031416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1378888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1726360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2073832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2421304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2768776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3116248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3463720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3811192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4158664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4506136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4853608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Oval 646"/>
          <p:cNvSpPr/>
          <p:nvPr/>
        </p:nvSpPr>
        <p:spPr>
          <a:xfrm>
            <a:off x="5201080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Oval 647"/>
          <p:cNvSpPr/>
          <p:nvPr/>
        </p:nvSpPr>
        <p:spPr>
          <a:xfrm>
            <a:off x="5548552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Oval 648"/>
          <p:cNvSpPr/>
          <p:nvPr/>
        </p:nvSpPr>
        <p:spPr>
          <a:xfrm>
            <a:off x="5896024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Oval 649"/>
          <p:cNvSpPr/>
          <p:nvPr/>
        </p:nvSpPr>
        <p:spPr>
          <a:xfrm>
            <a:off x="6243496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Oval 650"/>
          <p:cNvSpPr/>
          <p:nvPr/>
        </p:nvSpPr>
        <p:spPr>
          <a:xfrm>
            <a:off x="6590968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Oval 651"/>
          <p:cNvSpPr/>
          <p:nvPr/>
        </p:nvSpPr>
        <p:spPr>
          <a:xfrm>
            <a:off x="6938440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Oval 652"/>
          <p:cNvSpPr/>
          <p:nvPr/>
        </p:nvSpPr>
        <p:spPr>
          <a:xfrm>
            <a:off x="7285912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Oval 653"/>
          <p:cNvSpPr/>
          <p:nvPr/>
        </p:nvSpPr>
        <p:spPr>
          <a:xfrm>
            <a:off x="7633384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Oval 654"/>
          <p:cNvSpPr/>
          <p:nvPr/>
        </p:nvSpPr>
        <p:spPr>
          <a:xfrm>
            <a:off x="7980856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Oval 655"/>
          <p:cNvSpPr/>
          <p:nvPr/>
        </p:nvSpPr>
        <p:spPr>
          <a:xfrm>
            <a:off x="8328328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Oval 656"/>
          <p:cNvSpPr/>
          <p:nvPr/>
        </p:nvSpPr>
        <p:spPr>
          <a:xfrm>
            <a:off x="8675800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Oval 657"/>
          <p:cNvSpPr/>
          <p:nvPr/>
        </p:nvSpPr>
        <p:spPr>
          <a:xfrm>
            <a:off x="9023272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Oval 658"/>
          <p:cNvSpPr/>
          <p:nvPr/>
        </p:nvSpPr>
        <p:spPr>
          <a:xfrm>
            <a:off x="9370744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Oval 659"/>
          <p:cNvSpPr/>
          <p:nvPr/>
        </p:nvSpPr>
        <p:spPr>
          <a:xfrm>
            <a:off x="9718216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Oval 660"/>
          <p:cNvSpPr/>
          <p:nvPr/>
        </p:nvSpPr>
        <p:spPr>
          <a:xfrm>
            <a:off x="10065688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Oval 661"/>
          <p:cNvSpPr/>
          <p:nvPr/>
        </p:nvSpPr>
        <p:spPr>
          <a:xfrm>
            <a:off x="10413160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Oval 662"/>
          <p:cNvSpPr/>
          <p:nvPr/>
        </p:nvSpPr>
        <p:spPr>
          <a:xfrm>
            <a:off x="10760632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Oval 663"/>
          <p:cNvSpPr/>
          <p:nvPr/>
        </p:nvSpPr>
        <p:spPr>
          <a:xfrm>
            <a:off x="11108104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Oval 664"/>
          <p:cNvSpPr/>
          <p:nvPr/>
        </p:nvSpPr>
        <p:spPr>
          <a:xfrm>
            <a:off x="11455576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Oval 665"/>
          <p:cNvSpPr/>
          <p:nvPr/>
        </p:nvSpPr>
        <p:spPr>
          <a:xfrm>
            <a:off x="11803048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Oval 666"/>
          <p:cNvSpPr/>
          <p:nvPr/>
        </p:nvSpPr>
        <p:spPr>
          <a:xfrm>
            <a:off x="12150520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Oval 667"/>
          <p:cNvSpPr/>
          <p:nvPr/>
        </p:nvSpPr>
        <p:spPr>
          <a:xfrm>
            <a:off x="12497992" y="5896024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Oval 668"/>
          <p:cNvSpPr/>
          <p:nvPr/>
        </p:nvSpPr>
        <p:spPr>
          <a:xfrm>
            <a:off x="-11000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Oval 669"/>
          <p:cNvSpPr/>
          <p:nvPr/>
        </p:nvSpPr>
        <p:spPr>
          <a:xfrm>
            <a:off x="336472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Oval 670"/>
          <p:cNvSpPr/>
          <p:nvPr/>
        </p:nvSpPr>
        <p:spPr>
          <a:xfrm>
            <a:off x="683944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Oval 671"/>
          <p:cNvSpPr/>
          <p:nvPr/>
        </p:nvSpPr>
        <p:spPr>
          <a:xfrm>
            <a:off x="1031416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Oval 672"/>
          <p:cNvSpPr/>
          <p:nvPr/>
        </p:nvSpPr>
        <p:spPr>
          <a:xfrm>
            <a:off x="1378888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Oval 673"/>
          <p:cNvSpPr/>
          <p:nvPr/>
        </p:nvSpPr>
        <p:spPr>
          <a:xfrm>
            <a:off x="1726360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Oval 674"/>
          <p:cNvSpPr/>
          <p:nvPr/>
        </p:nvSpPr>
        <p:spPr>
          <a:xfrm>
            <a:off x="2073832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Oval 675"/>
          <p:cNvSpPr/>
          <p:nvPr/>
        </p:nvSpPr>
        <p:spPr>
          <a:xfrm>
            <a:off x="2421304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Oval 676"/>
          <p:cNvSpPr/>
          <p:nvPr/>
        </p:nvSpPr>
        <p:spPr>
          <a:xfrm>
            <a:off x="2768776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Oval 677"/>
          <p:cNvSpPr/>
          <p:nvPr/>
        </p:nvSpPr>
        <p:spPr>
          <a:xfrm>
            <a:off x="3116248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Oval 678"/>
          <p:cNvSpPr/>
          <p:nvPr/>
        </p:nvSpPr>
        <p:spPr>
          <a:xfrm>
            <a:off x="3463720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Oval 679"/>
          <p:cNvSpPr/>
          <p:nvPr/>
        </p:nvSpPr>
        <p:spPr>
          <a:xfrm>
            <a:off x="3811192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Oval 680"/>
          <p:cNvSpPr/>
          <p:nvPr/>
        </p:nvSpPr>
        <p:spPr>
          <a:xfrm>
            <a:off x="4158664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Oval 681"/>
          <p:cNvSpPr/>
          <p:nvPr/>
        </p:nvSpPr>
        <p:spPr>
          <a:xfrm>
            <a:off x="4506136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Oval 682"/>
          <p:cNvSpPr/>
          <p:nvPr/>
        </p:nvSpPr>
        <p:spPr>
          <a:xfrm>
            <a:off x="4853608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Oval 683"/>
          <p:cNvSpPr/>
          <p:nvPr/>
        </p:nvSpPr>
        <p:spPr>
          <a:xfrm>
            <a:off x="5201080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Oval 684"/>
          <p:cNvSpPr/>
          <p:nvPr/>
        </p:nvSpPr>
        <p:spPr>
          <a:xfrm>
            <a:off x="5548552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Oval 685"/>
          <p:cNvSpPr/>
          <p:nvPr/>
        </p:nvSpPr>
        <p:spPr>
          <a:xfrm>
            <a:off x="5896024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Oval 686"/>
          <p:cNvSpPr/>
          <p:nvPr/>
        </p:nvSpPr>
        <p:spPr>
          <a:xfrm>
            <a:off x="6243496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Oval 687"/>
          <p:cNvSpPr/>
          <p:nvPr/>
        </p:nvSpPr>
        <p:spPr>
          <a:xfrm>
            <a:off x="6590968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Oval 688"/>
          <p:cNvSpPr/>
          <p:nvPr/>
        </p:nvSpPr>
        <p:spPr>
          <a:xfrm>
            <a:off x="6938440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Oval 689"/>
          <p:cNvSpPr/>
          <p:nvPr/>
        </p:nvSpPr>
        <p:spPr>
          <a:xfrm>
            <a:off x="7285912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Oval 690"/>
          <p:cNvSpPr/>
          <p:nvPr/>
        </p:nvSpPr>
        <p:spPr>
          <a:xfrm>
            <a:off x="7633384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Oval 691"/>
          <p:cNvSpPr/>
          <p:nvPr/>
        </p:nvSpPr>
        <p:spPr>
          <a:xfrm>
            <a:off x="7980856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Oval 692"/>
          <p:cNvSpPr/>
          <p:nvPr/>
        </p:nvSpPr>
        <p:spPr>
          <a:xfrm>
            <a:off x="8328328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Oval 693"/>
          <p:cNvSpPr/>
          <p:nvPr/>
        </p:nvSpPr>
        <p:spPr>
          <a:xfrm>
            <a:off x="8675800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Oval 694"/>
          <p:cNvSpPr/>
          <p:nvPr/>
        </p:nvSpPr>
        <p:spPr>
          <a:xfrm>
            <a:off x="9023272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Oval 695"/>
          <p:cNvSpPr/>
          <p:nvPr/>
        </p:nvSpPr>
        <p:spPr>
          <a:xfrm>
            <a:off x="9370744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Oval 696"/>
          <p:cNvSpPr/>
          <p:nvPr/>
        </p:nvSpPr>
        <p:spPr>
          <a:xfrm>
            <a:off x="9718216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Oval 697"/>
          <p:cNvSpPr/>
          <p:nvPr/>
        </p:nvSpPr>
        <p:spPr>
          <a:xfrm>
            <a:off x="10065688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Oval 698"/>
          <p:cNvSpPr/>
          <p:nvPr/>
        </p:nvSpPr>
        <p:spPr>
          <a:xfrm>
            <a:off x="10413160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Oval 699"/>
          <p:cNvSpPr/>
          <p:nvPr/>
        </p:nvSpPr>
        <p:spPr>
          <a:xfrm>
            <a:off x="10760632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Oval 700"/>
          <p:cNvSpPr/>
          <p:nvPr/>
        </p:nvSpPr>
        <p:spPr>
          <a:xfrm>
            <a:off x="11108104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Oval 701"/>
          <p:cNvSpPr/>
          <p:nvPr/>
        </p:nvSpPr>
        <p:spPr>
          <a:xfrm>
            <a:off x="11455576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Oval 702"/>
          <p:cNvSpPr/>
          <p:nvPr/>
        </p:nvSpPr>
        <p:spPr>
          <a:xfrm>
            <a:off x="11803048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Oval 703"/>
          <p:cNvSpPr/>
          <p:nvPr/>
        </p:nvSpPr>
        <p:spPr>
          <a:xfrm>
            <a:off x="12150520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704"/>
          <p:cNvSpPr/>
          <p:nvPr/>
        </p:nvSpPr>
        <p:spPr>
          <a:xfrm>
            <a:off x="12497992" y="6243496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Oval 705"/>
          <p:cNvSpPr/>
          <p:nvPr/>
        </p:nvSpPr>
        <p:spPr>
          <a:xfrm>
            <a:off x="-11000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Oval 706"/>
          <p:cNvSpPr/>
          <p:nvPr/>
        </p:nvSpPr>
        <p:spPr>
          <a:xfrm>
            <a:off x="336472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Oval 707"/>
          <p:cNvSpPr/>
          <p:nvPr/>
        </p:nvSpPr>
        <p:spPr>
          <a:xfrm>
            <a:off x="683944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Oval 708"/>
          <p:cNvSpPr/>
          <p:nvPr/>
        </p:nvSpPr>
        <p:spPr>
          <a:xfrm>
            <a:off x="1031416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Oval 709"/>
          <p:cNvSpPr/>
          <p:nvPr/>
        </p:nvSpPr>
        <p:spPr>
          <a:xfrm>
            <a:off x="1378888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Oval 710"/>
          <p:cNvSpPr/>
          <p:nvPr/>
        </p:nvSpPr>
        <p:spPr>
          <a:xfrm>
            <a:off x="1726360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Oval 711"/>
          <p:cNvSpPr/>
          <p:nvPr/>
        </p:nvSpPr>
        <p:spPr>
          <a:xfrm>
            <a:off x="2073832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Oval 712"/>
          <p:cNvSpPr/>
          <p:nvPr/>
        </p:nvSpPr>
        <p:spPr>
          <a:xfrm>
            <a:off x="2421304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Oval 713"/>
          <p:cNvSpPr/>
          <p:nvPr/>
        </p:nvSpPr>
        <p:spPr>
          <a:xfrm>
            <a:off x="2768776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Oval 714"/>
          <p:cNvSpPr/>
          <p:nvPr/>
        </p:nvSpPr>
        <p:spPr>
          <a:xfrm>
            <a:off x="3116248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Oval 715"/>
          <p:cNvSpPr/>
          <p:nvPr/>
        </p:nvSpPr>
        <p:spPr>
          <a:xfrm>
            <a:off x="3463720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Oval 716"/>
          <p:cNvSpPr/>
          <p:nvPr/>
        </p:nvSpPr>
        <p:spPr>
          <a:xfrm>
            <a:off x="3811192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Oval 717"/>
          <p:cNvSpPr/>
          <p:nvPr/>
        </p:nvSpPr>
        <p:spPr>
          <a:xfrm>
            <a:off x="4158664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Oval 718"/>
          <p:cNvSpPr/>
          <p:nvPr/>
        </p:nvSpPr>
        <p:spPr>
          <a:xfrm>
            <a:off x="4506136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Oval 719"/>
          <p:cNvSpPr/>
          <p:nvPr/>
        </p:nvSpPr>
        <p:spPr>
          <a:xfrm>
            <a:off x="4853608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Oval 720"/>
          <p:cNvSpPr/>
          <p:nvPr/>
        </p:nvSpPr>
        <p:spPr>
          <a:xfrm>
            <a:off x="5201080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Oval 721"/>
          <p:cNvSpPr/>
          <p:nvPr/>
        </p:nvSpPr>
        <p:spPr>
          <a:xfrm>
            <a:off x="5548552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Oval 722"/>
          <p:cNvSpPr/>
          <p:nvPr/>
        </p:nvSpPr>
        <p:spPr>
          <a:xfrm>
            <a:off x="5896024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Oval 723"/>
          <p:cNvSpPr/>
          <p:nvPr/>
        </p:nvSpPr>
        <p:spPr>
          <a:xfrm>
            <a:off x="6243496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Oval 724"/>
          <p:cNvSpPr/>
          <p:nvPr/>
        </p:nvSpPr>
        <p:spPr>
          <a:xfrm>
            <a:off x="6590968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Oval 725"/>
          <p:cNvSpPr/>
          <p:nvPr/>
        </p:nvSpPr>
        <p:spPr>
          <a:xfrm>
            <a:off x="6938440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Oval 726"/>
          <p:cNvSpPr/>
          <p:nvPr/>
        </p:nvSpPr>
        <p:spPr>
          <a:xfrm>
            <a:off x="7285912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Oval 727"/>
          <p:cNvSpPr/>
          <p:nvPr/>
        </p:nvSpPr>
        <p:spPr>
          <a:xfrm>
            <a:off x="7633384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Oval 728"/>
          <p:cNvSpPr/>
          <p:nvPr/>
        </p:nvSpPr>
        <p:spPr>
          <a:xfrm>
            <a:off x="7980856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Oval 729"/>
          <p:cNvSpPr/>
          <p:nvPr/>
        </p:nvSpPr>
        <p:spPr>
          <a:xfrm>
            <a:off x="8328328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Oval 730"/>
          <p:cNvSpPr/>
          <p:nvPr/>
        </p:nvSpPr>
        <p:spPr>
          <a:xfrm>
            <a:off x="8675800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Oval 731"/>
          <p:cNvSpPr/>
          <p:nvPr/>
        </p:nvSpPr>
        <p:spPr>
          <a:xfrm>
            <a:off x="9023272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Oval 732"/>
          <p:cNvSpPr/>
          <p:nvPr/>
        </p:nvSpPr>
        <p:spPr>
          <a:xfrm>
            <a:off x="9370744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Oval 733"/>
          <p:cNvSpPr/>
          <p:nvPr/>
        </p:nvSpPr>
        <p:spPr>
          <a:xfrm>
            <a:off x="9718216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Oval 734"/>
          <p:cNvSpPr/>
          <p:nvPr/>
        </p:nvSpPr>
        <p:spPr>
          <a:xfrm>
            <a:off x="10065688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Oval 735"/>
          <p:cNvSpPr/>
          <p:nvPr/>
        </p:nvSpPr>
        <p:spPr>
          <a:xfrm>
            <a:off x="10413160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Oval 736"/>
          <p:cNvSpPr/>
          <p:nvPr/>
        </p:nvSpPr>
        <p:spPr>
          <a:xfrm>
            <a:off x="10760632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Oval 737"/>
          <p:cNvSpPr/>
          <p:nvPr/>
        </p:nvSpPr>
        <p:spPr>
          <a:xfrm>
            <a:off x="11108104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Oval 738"/>
          <p:cNvSpPr/>
          <p:nvPr/>
        </p:nvSpPr>
        <p:spPr>
          <a:xfrm>
            <a:off x="11455576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Oval 739"/>
          <p:cNvSpPr/>
          <p:nvPr/>
        </p:nvSpPr>
        <p:spPr>
          <a:xfrm>
            <a:off x="11803048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Oval 740"/>
          <p:cNvSpPr/>
          <p:nvPr/>
        </p:nvSpPr>
        <p:spPr>
          <a:xfrm>
            <a:off x="12150520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Oval 741"/>
          <p:cNvSpPr/>
          <p:nvPr/>
        </p:nvSpPr>
        <p:spPr>
          <a:xfrm>
            <a:off x="12497992" y="6590968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Oval 742"/>
          <p:cNvSpPr/>
          <p:nvPr/>
        </p:nvSpPr>
        <p:spPr>
          <a:xfrm>
            <a:off x="-11000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Oval 743"/>
          <p:cNvSpPr/>
          <p:nvPr/>
        </p:nvSpPr>
        <p:spPr>
          <a:xfrm>
            <a:off x="336472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Oval 744"/>
          <p:cNvSpPr/>
          <p:nvPr/>
        </p:nvSpPr>
        <p:spPr>
          <a:xfrm>
            <a:off x="683944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Oval 745"/>
          <p:cNvSpPr/>
          <p:nvPr/>
        </p:nvSpPr>
        <p:spPr>
          <a:xfrm>
            <a:off x="1031416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Oval 746"/>
          <p:cNvSpPr/>
          <p:nvPr/>
        </p:nvSpPr>
        <p:spPr>
          <a:xfrm>
            <a:off x="1378888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Oval 747"/>
          <p:cNvSpPr/>
          <p:nvPr/>
        </p:nvSpPr>
        <p:spPr>
          <a:xfrm>
            <a:off x="1726360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Oval 748"/>
          <p:cNvSpPr/>
          <p:nvPr/>
        </p:nvSpPr>
        <p:spPr>
          <a:xfrm>
            <a:off x="2073832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Oval 749"/>
          <p:cNvSpPr/>
          <p:nvPr/>
        </p:nvSpPr>
        <p:spPr>
          <a:xfrm>
            <a:off x="2421304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Oval 750"/>
          <p:cNvSpPr/>
          <p:nvPr/>
        </p:nvSpPr>
        <p:spPr>
          <a:xfrm>
            <a:off x="2768776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Oval 751"/>
          <p:cNvSpPr/>
          <p:nvPr/>
        </p:nvSpPr>
        <p:spPr>
          <a:xfrm>
            <a:off x="3116248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Oval 752"/>
          <p:cNvSpPr/>
          <p:nvPr/>
        </p:nvSpPr>
        <p:spPr>
          <a:xfrm>
            <a:off x="3463720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Oval 753"/>
          <p:cNvSpPr/>
          <p:nvPr/>
        </p:nvSpPr>
        <p:spPr>
          <a:xfrm>
            <a:off x="3811192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Oval 754"/>
          <p:cNvSpPr/>
          <p:nvPr/>
        </p:nvSpPr>
        <p:spPr>
          <a:xfrm>
            <a:off x="4158664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Oval 755"/>
          <p:cNvSpPr/>
          <p:nvPr/>
        </p:nvSpPr>
        <p:spPr>
          <a:xfrm>
            <a:off x="4506136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Oval 756"/>
          <p:cNvSpPr/>
          <p:nvPr/>
        </p:nvSpPr>
        <p:spPr>
          <a:xfrm>
            <a:off x="4853608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Oval 757"/>
          <p:cNvSpPr/>
          <p:nvPr/>
        </p:nvSpPr>
        <p:spPr>
          <a:xfrm>
            <a:off x="5201080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Oval 758"/>
          <p:cNvSpPr/>
          <p:nvPr/>
        </p:nvSpPr>
        <p:spPr>
          <a:xfrm>
            <a:off x="5548552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Oval 759"/>
          <p:cNvSpPr/>
          <p:nvPr/>
        </p:nvSpPr>
        <p:spPr>
          <a:xfrm>
            <a:off x="5896024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Oval 760"/>
          <p:cNvSpPr/>
          <p:nvPr/>
        </p:nvSpPr>
        <p:spPr>
          <a:xfrm>
            <a:off x="6243496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Oval 761"/>
          <p:cNvSpPr/>
          <p:nvPr/>
        </p:nvSpPr>
        <p:spPr>
          <a:xfrm>
            <a:off x="6590968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Oval 762"/>
          <p:cNvSpPr/>
          <p:nvPr/>
        </p:nvSpPr>
        <p:spPr>
          <a:xfrm>
            <a:off x="6938440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Oval 763"/>
          <p:cNvSpPr/>
          <p:nvPr/>
        </p:nvSpPr>
        <p:spPr>
          <a:xfrm>
            <a:off x="7285912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Oval 764"/>
          <p:cNvSpPr/>
          <p:nvPr/>
        </p:nvSpPr>
        <p:spPr>
          <a:xfrm>
            <a:off x="7633384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7980856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Oval 766"/>
          <p:cNvSpPr/>
          <p:nvPr/>
        </p:nvSpPr>
        <p:spPr>
          <a:xfrm>
            <a:off x="8328328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Oval 767"/>
          <p:cNvSpPr/>
          <p:nvPr/>
        </p:nvSpPr>
        <p:spPr>
          <a:xfrm>
            <a:off x="8675800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9023272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Oval 769"/>
          <p:cNvSpPr/>
          <p:nvPr/>
        </p:nvSpPr>
        <p:spPr>
          <a:xfrm>
            <a:off x="9370744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Oval 770"/>
          <p:cNvSpPr/>
          <p:nvPr/>
        </p:nvSpPr>
        <p:spPr>
          <a:xfrm>
            <a:off x="9718216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10065688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Oval 772"/>
          <p:cNvSpPr/>
          <p:nvPr/>
        </p:nvSpPr>
        <p:spPr>
          <a:xfrm>
            <a:off x="10413160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Oval 773"/>
          <p:cNvSpPr/>
          <p:nvPr/>
        </p:nvSpPr>
        <p:spPr>
          <a:xfrm>
            <a:off x="10760632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11108104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Oval 775"/>
          <p:cNvSpPr/>
          <p:nvPr/>
        </p:nvSpPr>
        <p:spPr>
          <a:xfrm>
            <a:off x="11455576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Oval 776"/>
          <p:cNvSpPr/>
          <p:nvPr/>
        </p:nvSpPr>
        <p:spPr>
          <a:xfrm>
            <a:off x="11803048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12150520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Oval 778"/>
          <p:cNvSpPr/>
          <p:nvPr/>
        </p:nvSpPr>
        <p:spPr>
          <a:xfrm>
            <a:off x="12497992" y="6938440"/>
            <a:ext cx="22000" cy="2200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Oval 779"/>
          <p:cNvSpPr/>
          <p:nvPr/>
        </p:nvSpPr>
        <p:spPr>
          <a:xfrm>
            <a:off x="5157216" y="164592"/>
            <a:ext cx="475488" cy="475488"/>
          </a:xfrm>
          <a:prstGeom prst="ellipse">
            <a:avLst/>
          </a:prstGeom>
          <a:solidFill>
            <a:srgbClr val="2E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5157216" y="658368"/>
            <a:ext cx="475488" cy="274320"/>
          </a:xfrm>
          <a:prstGeom prst="ellipse">
            <a:avLst/>
          </a:prstGeom>
          <a:solidFill>
            <a:srgbClr val="2E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Rectangle 781"/>
          <p:cNvSpPr/>
          <p:nvPr/>
        </p:nvSpPr>
        <p:spPr>
          <a:xfrm>
            <a:off x="2743200" y="731520"/>
            <a:ext cx="5303520" cy="658368"/>
          </a:xfrm>
          <a:prstGeom prst="roundRect">
            <a:avLst>
              <a:gd name="adj" fmla="val 4500"/>
            </a:avLst>
          </a:prstGeom>
          <a:solidFill>
            <a:srgbClr val="D4D4D4"/>
          </a:solidFill>
          <a:ln w="2032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TextBox 782"/>
          <p:cNvSpPr txBox="1"/>
          <p:nvPr/>
        </p:nvSpPr>
        <p:spPr>
          <a:xfrm>
            <a:off x="2816352" y="768096"/>
            <a:ext cx="5157216" cy="316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A1A1A"/>
                </a:solidFill>
              </a:rPr>
              <a:t>React Chat UI</a:t>
            </a:r>
          </a:p>
        </p:txBody>
      </p:sp>
      <p:sp>
        <p:nvSpPr>
          <p:cNvPr id="784" name="TextBox 783"/>
          <p:cNvSpPr txBox="1"/>
          <p:nvPr/>
        </p:nvSpPr>
        <p:spPr>
          <a:xfrm>
            <a:off x="2816352" y="1060704"/>
            <a:ext cx="5157216" cy="276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</a:rPr>
              <a:t>User types prompt in browser  ·  ui/ (React + Vite)</a:t>
            </a:r>
          </a:p>
        </p:txBody>
      </p:sp>
      <p:cxnSp>
        <p:nvCxnSpPr>
          <p:cNvPr id="9002" name="Arr"/>
          <p:cNvCxnSpPr/>
          <p:nvPr/>
        </p:nvCxnSpPr>
        <p:spPr>
          <a:xfrm>
            <a:off x="5394960" y="1389888"/>
            <a:ext cx="200" cy="274320"/>
          </a:xfrm>
          <a:prstGeom prst="line">
            <a:avLst/>
          </a:prstGeom>
          <a:ln w="25400">
            <a:solidFill>
              <a:srgbClr val="444444"/>
            </a:solidFill>
            <a:headEnd type="none"/>
            <a:tailEnd type="triangle" w="med" len="med"/>
          </a:ln>
        </p:spPr>
      </p:cxnSp>
      <p:sp>
        <p:nvSpPr>
          <p:cNvPr id="9003" name="Rectangle 9002"/>
          <p:cNvSpPr/>
          <p:nvPr/>
        </p:nvSpPr>
        <p:spPr>
          <a:xfrm>
            <a:off x="914400" y="1664208"/>
            <a:ext cx="8961120" cy="3840480"/>
          </a:xfrm>
          <a:prstGeom prst="roundRect">
            <a:avLst>
              <a:gd name="adj" fmla="val 5500"/>
            </a:avLst>
          </a:prstGeom>
          <a:solidFill>
            <a:srgbClr val="C8DCF2"/>
          </a:solidFill>
          <a:ln w="31750">
            <a:solidFill>
              <a:srgbClr val="66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4" name="TextBox 9003"/>
          <p:cNvSpPr txBox="1"/>
          <p:nvPr/>
        </p:nvSpPr>
        <p:spPr>
          <a:xfrm>
            <a:off x="1143000" y="173736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3087"/>
                </a:solidFill>
              </a:rPr>
              <a:t>HDI Agent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1143000" y="2029968"/>
            <a:ext cx="8503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</a:rPr>
              <a:t>Generates &amp; deploys artifacts</a:t>
            </a:r>
          </a:p>
        </p:txBody>
      </p:sp>
      <p:sp>
        <p:nvSpPr>
          <p:cNvPr id="9006" name="Rectangle 9005"/>
          <p:cNvSpPr/>
          <p:nvPr/>
        </p:nvSpPr>
        <p:spPr>
          <a:xfrm>
            <a:off x="1298448" y="2322576"/>
            <a:ext cx="324612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7" name="TextBox 9006"/>
          <p:cNvSpPr txBox="1"/>
          <p:nvPr/>
        </p:nvSpPr>
        <p:spPr>
          <a:xfrm>
            <a:off x="1371600" y="2359152"/>
            <a:ext cx="3099816" cy="359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A1A1A"/>
                </a:solidFill>
              </a:rPr>
              <a:t>FastAPI + Session Manager</a:t>
            </a:r>
          </a:p>
        </p:txBody>
      </p:sp>
      <p:sp>
        <p:nvSpPr>
          <p:cNvPr id="9008" name="TextBox 9007"/>
          <p:cNvSpPr txBox="1"/>
          <p:nvPr/>
        </p:nvSpPr>
        <p:spPr>
          <a:xfrm>
            <a:off x="1371600" y="2697480"/>
            <a:ext cx="3099816" cy="314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</a:rPr>
              <a:t>api/app.py  ·  session_manager.py</a:t>
            </a:r>
          </a:p>
        </p:txBody>
      </p:sp>
      <p:sp>
        <p:nvSpPr>
          <p:cNvPr id="9009" name="Rectangle 9008"/>
          <p:cNvSpPr/>
          <p:nvPr/>
        </p:nvSpPr>
        <p:spPr>
          <a:xfrm>
            <a:off x="6245352" y="2322576"/>
            <a:ext cx="324612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0" name="TextBox 9009"/>
          <p:cNvSpPr txBox="1"/>
          <p:nvPr/>
        </p:nvSpPr>
        <p:spPr>
          <a:xfrm>
            <a:off x="6318504" y="2359152"/>
            <a:ext cx="3099816" cy="359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A1A1A"/>
                </a:solidFill>
              </a:rPr>
              <a:t>LLM Orchestrator</a:t>
            </a:r>
          </a:p>
        </p:txBody>
      </p:sp>
      <p:sp>
        <p:nvSpPr>
          <p:cNvPr id="9011" name="TextBox 9010"/>
          <p:cNvSpPr txBox="1"/>
          <p:nvPr/>
        </p:nvSpPr>
        <p:spPr>
          <a:xfrm>
            <a:off x="6318504" y="2697480"/>
            <a:ext cx="3099816" cy="314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</a:rPr>
              <a:t>agent/llm.py  ·  Claude via SAP AI Core</a:t>
            </a:r>
          </a:p>
        </p:txBody>
      </p:sp>
      <p:sp>
        <p:nvSpPr>
          <p:cNvPr id="9012" name="Rectangle 9011"/>
          <p:cNvSpPr/>
          <p:nvPr/>
        </p:nvSpPr>
        <p:spPr>
          <a:xfrm>
            <a:off x="6245352" y="3877056"/>
            <a:ext cx="324612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3" name="TextBox 9012"/>
          <p:cNvSpPr txBox="1"/>
          <p:nvPr/>
        </p:nvSpPr>
        <p:spPr>
          <a:xfrm>
            <a:off x="6318504" y="3913632"/>
            <a:ext cx="3099816" cy="359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A1A1A"/>
                </a:solidFill>
              </a:rPr>
              <a:t>Tool Dispatcher</a:t>
            </a:r>
          </a:p>
        </p:txBody>
      </p:sp>
      <p:sp>
        <p:nvSpPr>
          <p:cNvPr id="9014" name="TextBox 9013"/>
          <p:cNvSpPr txBox="1"/>
          <p:nvPr/>
        </p:nvSpPr>
        <p:spPr>
          <a:xfrm>
            <a:off x="6318504" y="4251960"/>
            <a:ext cx="3099816" cy="314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</a:rPr>
              <a:t>agent/tools.py  ·  Routes LLM tool calls</a:t>
            </a:r>
          </a:p>
        </p:txBody>
      </p:sp>
      <p:sp>
        <p:nvSpPr>
          <p:cNvPr id="9015" name="Rectangle 9014"/>
          <p:cNvSpPr/>
          <p:nvPr/>
        </p:nvSpPr>
        <p:spPr>
          <a:xfrm>
            <a:off x="1298448" y="3877056"/>
            <a:ext cx="324612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6" name="TextBox 9015"/>
          <p:cNvSpPr txBox="1"/>
          <p:nvPr/>
        </p:nvSpPr>
        <p:spPr>
          <a:xfrm>
            <a:off x="1371600" y="3913632"/>
            <a:ext cx="3099816" cy="359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A1A1A"/>
                </a:solidFill>
              </a:rPr>
              <a:t>HANAClient</a:t>
            </a:r>
          </a:p>
        </p:txBody>
      </p:sp>
      <p:sp>
        <p:nvSpPr>
          <p:cNvPr id="9017" name="TextBox 9016"/>
          <p:cNvSpPr txBox="1"/>
          <p:nvPr/>
        </p:nvSpPr>
        <p:spPr>
          <a:xfrm>
            <a:off x="1371600" y="4251960"/>
            <a:ext cx="3099816" cy="314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</a:rPr>
              <a:t>agent/hana_client.py  ·  HDI API wrapper</a:t>
            </a:r>
          </a:p>
        </p:txBody>
      </p:sp>
      <p:cxnSp>
        <p:nvCxnSpPr>
          <p:cNvPr id="9002" name="Arr"/>
          <p:cNvCxnSpPr/>
          <p:nvPr/>
        </p:nvCxnSpPr>
        <p:spPr>
          <a:xfrm>
            <a:off x="4544568" y="2697480"/>
            <a:ext cx="1700784" cy="200"/>
          </a:xfrm>
          <a:prstGeom prst="line">
            <a:avLst/>
          </a:prstGeom>
          <a:ln w="25400">
            <a:solidFill>
              <a:srgbClr val="444444"/>
            </a:solidFill>
            <a:headEnd type="none"/>
            <a:tailEnd type="triangle" w="med" len="med"/>
          </a:ln>
        </p:spPr>
      </p:cxnSp>
      <p:cxnSp>
        <p:nvCxnSpPr>
          <p:cNvPr id="9002" name="Arr"/>
          <p:cNvCxnSpPr/>
          <p:nvPr/>
        </p:nvCxnSpPr>
        <p:spPr>
          <a:xfrm>
            <a:off x="7868412" y="3072384"/>
            <a:ext cx="200" cy="804672"/>
          </a:xfrm>
          <a:prstGeom prst="line">
            <a:avLst/>
          </a:prstGeom>
          <a:ln w="25400">
            <a:solidFill>
              <a:srgbClr val="444444"/>
            </a:solidFill>
            <a:headEnd type="none"/>
            <a:tailEnd type="triangle" w="med" len="med"/>
          </a:ln>
        </p:spPr>
      </p:cxnSp>
      <p:cxnSp>
        <p:nvCxnSpPr>
          <p:cNvPr id="9002" name="Arr"/>
          <p:cNvCxnSpPr/>
          <p:nvPr/>
        </p:nvCxnSpPr>
        <p:spPr>
          <a:xfrm>
            <a:off x="4544568" y="4251960"/>
            <a:ext cx="1700784" cy="200"/>
          </a:xfrm>
          <a:prstGeom prst="line">
            <a:avLst/>
          </a:prstGeom>
          <a:ln w="25400">
            <a:solidFill>
              <a:srgbClr val="444444"/>
            </a:solidFill>
            <a:headEnd type="none"/>
            <a:tailEnd type="triangle" w="med" len="med"/>
          </a:ln>
        </p:spPr>
      </p:cxnSp>
      <p:cxnSp>
        <p:nvCxnSpPr>
          <p:cNvPr id="9002" name="Arr"/>
          <p:cNvCxnSpPr/>
          <p:nvPr/>
        </p:nvCxnSpPr>
        <p:spPr>
          <a:xfrm>
            <a:off x="2921508" y="4626864"/>
            <a:ext cx="200" cy="877824"/>
          </a:xfrm>
          <a:prstGeom prst="line">
            <a:avLst/>
          </a:prstGeom>
          <a:ln w="25400">
            <a:solidFill>
              <a:srgbClr val="444444"/>
            </a:solidFill>
            <a:headEnd type="none"/>
            <a:tailEnd type="triangle" w="med" len="med"/>
          </a:ln>
        </p:spPr>
      </p:cxnSp>
      <p:cxnSp>
        <p:nvCxnSpPr>
          <p:cNvPr id="9002" name="Arr"/>
          <p:cNvCxnSpPr/>
          <p:nvPr/>
        </p:nvCxnSpPr>
        <p:spPr>
          <a:xfrm>
            <a:off x="7868412" y="1984248"/>
            <a:ext cx="200" cy="338328"/>
          </a:xfrm>
          <a:prstGeom prst="line">
            <a:avLst/>
          </a:prstGeom>
          <a:ln w="28000">
            <a:solidFill>
              <a:srgbClr val="0066CC"/>
            </a:solidFill>
            <a:headEnd type="none"/>
            <a:tailEnd type="triangle" w="med" len="med"/>
          </a:ln>
        </p:spPr>
      </p:cxnSp>
      <p:sp>
        <p:nvSpPr>
          <p:cNvPr id="9018" name="Rectangle 9017"/>
          <p:cNvSpPr/>
          <p:nvPr/>
        </p:nvSpPr>
        <p:spPr>
          <a:xfrm>
            <a:off x="10222992" y="2322576"/>
            <a:ext cx="1600200" cy="731520"/>
          </a:xfrm>
          <a:prstGeom prst="roundRect">
            <a:avLst>
              <a:gd name="adj" fmla="val 5000"/>
            </a:avLst>
          </a:prstGeom>
          <a:solidFill>
            <a:srgbClr val="E0E0E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9" name="TextBox 9018"/>
          <p:cNvSpPr txBox="1"/>
          <p:nvPr/>
        </p:nvSpPr>
        <p:spPr>
          <a:xfrm>
            <a:off x="10296144" y="2359152"/>
            <a:ext cx="1453896" cy="351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A1A1A"/>
                </a:solidFill>
              </a:rPr>
              <a:t>AI Core</a:t>
            </a:r>
          </a:p>
        </p:txBody>
      </p:sp>
      <p:sp>
        <p:nvSpPr>
          <p:cNvPr id="9020" name="TextBox 9019"/>
          <p:cNvSpPr txBox="1"/>
          <p:nvPr/>
        </p:nvSpPr>
        <p:spPr>
          <a:xfrm>
            <a:off x="10296144" y="2688336"/>
            <a:ext cx="1453896" cy="30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</a:rPr>
              <a:t>Claude (Anthropic)</a:t>
            </a:r>
          </a:p>
        </p:txBody>
      </p:sp>
      <p:cxnSp>
        <p:nvCxnSpPr>
          <p:cNvPr id="9002" name="Arr"/>
          <p:cNvCxnSpPr/>
          <p:nvPr/>
        </p:nvCxnSpPr>
        <p:spPr>
          <a:xfrm>
            <a:off x="9491472" y="2688336"/>
            <a:ext cx="731520" cy="9144"/>
          </a:xfrm>
          <a:prstGeom prst="line">
            <a:avLst/>
          </a:prstGeom>
          <a:ln w="25400">
            <a:solidFill>
              <a:srgbClr val="444444"/>
            </a:solidFill>
            <a:headEnd type="none"/>
            <a:tailEnd type="triangle" w="med" len="med"/>
          </a:ln>
        </p:spPr>
      </p:cxnSp>
      <p:cxnSp>
        <p:nvCxnSpPr>
          <p:cNvPr id="9002" name="Arr"/>
          <p:cNvCxnSpPr/>
          <p:nvPr/>
        </p:nvCxnSpPr>
        <p:spPr>
          <a:xfrm>
            <a:off x="9491472" y="2752344"/>
            <a:ext cx="731520" cy="9144"/>
          </a:xfrm>
          <a:prstGeom prst="line">
            <a:avLst/>
          </a:prstGeom>
          <a:ln w="25400">
            <a:solidFill>
              <a:srgbClr val="444444"/>
            </a:solidFill>
            <a:headEnd type="none"/>
            <a:tailEnd type="triangle" w="med" len="med"/>
          </a:ln>
        </p:spPr>
      </p:cxnSp>
      <p:cxnSp>
        <p:nvCxnSpPr>
          <p:cNvPr id="9002" name="Arr"/>
          <p:cNvCxnSpPr/>
          <p:nvPr/>
        </p:nvCxnSpPr>
        <p:spPr>
          <a:xfrm>
            <a:off x="5394960" y="5504688"/>
            <a:ext cx="200" cy="384048"/>
          </a:xfrm>
          <a:prstGeom prst="line">
            <a:avLst/>
          </a:prstGeom>
          <a:ln w="25400">
            <a:solidFill>
              <a:srgbClr val="444444"/>
            </a:solidFill>
            <a:headEnd type="none"/>
            <a:tailEnd type="triangle" w="med" len="med"/>
          </a:ln>
        </p:spPr>
      </p:cxnSp>
      <p:sp>
        <p:nvSpPr>
          <p:cNvPr id="9021" name="Rectangle 9020"/>
          <p:cNvSpPr/>
          <p:nvPr/>
        </p:nvSpPr>
        <p:spPr>
          <a:xfrm>
            <a:off x="2834640" y="5888736"/>
            <a:ext cx="5120640" cy="621792"/>
          </a:xfrm>
          <a:prstGeom prst="roundRect">
            <a:avLst>
              <a:gd name="adj" fmla="val 5000"/>
            </a:avLst>
          </a:prstGeom>
          <a:solidFill>
            <a:srgbClr val="E8D5F5"/>
          </a:solidFill>
          <a:ln w="25400">
            <a:solidFill>
              <a:srgbClr val="995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2" name="TextBox 9021"/>
          <p:cNvSpPr txBox="1"/>
          <p:nvPr/>
        </p:nvSpPr>
        <p:spPr>
          <a:xfrm>
            <a:off x="2907792" y="5925312"/>
            <a:ext cx="4974336" cy="298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A1A1A"/>
                </a:solidFill>
              </a:rPr>
              <a:t>HANA HDI API</a:t>
            </a:r>
          </a:p>
        </p:txBody>
      </p:sp>
      <p:sp>
        <p:nvSpPr>
          <p:cNvPr id="9023" name="TextBox 9022"/>
          <p:cNvSpPr txBox="1"/>
          <p:nvPr/>
        </p:nvSpPr>
        <p:spPr>
          <a:xfrm>
            <a:off x="2907792" y="6199632"/>
            <a:ext cx="4974336" cy="261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</a:rPr>
              <a:t>Write  →  Make  →  Grant</a:t>
            </a:r>
          </a:p>
        </p:txBody>
      </p:sp>
      <p:cxnSp>
        <p:nvCxnSpPr>
          <p:cNvPr id="9002" name="Arr"/>
          <p:cNvCxnSpPr/>
          <p:nvPr/>
        </p:nvCxnSpPr>
        <p:spPr>
          <a:xfrm>
            <a:off x="5394960" y="6510528"/>
            <a:ext cx="200" cy="365760"/>
          </a:xfrm>
          <a:prstGeom prst="line">
            <a:avLst/>
          </a:prstGeom>
          <a:ln w="25400">
            <a:solidFill>
              <a:srgbClr val="444444"/>
            </a:solidFill>
            <a:headEnd type="none"/>
            <a:tailEnd type="triangle" w="med" len="med"/>
          </a:ln>
        </p:spPr>
      </p:cxnSp>
      <p:sp>
        <p:nvSpPr>
          <p:cNvPr id="9024" name="Rectangle 9023"/>
          <p:cNvSpPr/>
          <p:nvPr/>
        </p:nvSpPr>
        <p:spPr>
          <a:xfrm>
            <a:off x="2606040" y="6876288"/>
            <a:ext cx="5577840" cy="621792"/>
          </a:xfrm>
          <a:prstGeom prst="roundRect">
            <a:avLst>
              <a:gd name="adj" fmla="val 5000"/>
            </a:avLst>
          </a:prstGeom>
          <a:solidFill>
            <a:srgbClr val="FFEC9A"/>
          </a:solidFill>
          <a:ln w="25400">
            <a:solidFill>
              <a:srgbClr val="CC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5" name="TextBox 9024"/>
          <p:cNvSpPr txBox="1"/>
          <p:nvPr/>
        </p:nvSpPr>
        <p:spPr>
          <a:xfrm>
            <a:off x="2679192" y="6912864"/>
            <a:ext cx="5431536" cy="298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A1A1A"/>
                </a:solidFill>
              </a:rPr>
              <a:t>SAP HANA Cloud  —  HDI Container</a:t>
            </a:r>
          </a:p>
        </p:txBody>
      </p:sp>
      <p:sp>
        <p:nvSpPr>
          <p:cNvPr id="9026" name="TextBox 9025"/>
          <p:cNvSpPr txBox="1"/>
          <p:nvPr/>
        </p:nvSpPr>
        <p:spPr>
          <a:xfrm>
            <a:off x="2679192" y="7187184"/>
            <a:ext cx="5431536" cy="261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66666"/>
                </a:solidFill>
              </a:rPr>
              <a:t>AAK_CONTAINER  ·  SUSHANT_CONTAINER  (one per user)</a:t>
            </a:r>
          </a:p>
        </p:txBody>
      </p:sp>
      <p:sp>
        <p:nvSpPr>
          <p:cNvPr id="9027" name="TextBox 9026"/>
          <p:cNvSpPr txBox="1"/>
          <p:nvPr/>
        </p:nvSpPr>
        <p:spPr>
          <a:xfrm>
            <a:off x="457200" y="6656832"/>
            <a:ext cx="112745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AAAAAA"/>
                </a:solidFill>
              </a:rPr>
              <a:t>HDI-Agent  ·  Corrected Architecture  ·  SAP HANA Cloud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